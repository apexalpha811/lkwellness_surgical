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Shape 1"/>
          <p:cNvSpPr/>
          <p:nvPr/>
        </p:nvSpPr>
        <p:spPr>
          <a:xfrm>
            <a:off x="0" y="4480560"/>
            <a:ext cx="9144000" cy="667512"/>
          </a:xfrm>
          <a:prstGeom prst="rect">
            <a:avLst/>
          </a:prstGeom>
          <a:solidFill>
            <a:srgbClr val="16241C"/>
          </a:solidFill>
          <a:ln w="12700">
            <a:solidFill>
              <a:srgbClr val="16241C"/>
            </a:solidFill>
            <a:prstDash val="solid"/>
          </a:ln>
        </p:spPr>
      </p:sp>
      <p:sp>
        <p:nvSpPr>
          <p:cNvPr id="4" name="Text 2"/>
          <p:cNvSpPr/>
          <p:nvPr/>
        </p:nvSpPr>
        <p:spPr>
          <a:xfrm>
            <a:off x="502920" y="1371600"/>
            <a:ext cx="8138160" cy="640080"/>
          </a:xfrm>
          <a:prstGeom prst="rect">
            <a:avLst/>
          </a:prstGeom>
          <a:noFill/>
          <a:ln/>
        </p:spPr>
        <p:txBody>
          <a:bodyPr wrap="square" rtlCol="0" anchor="ctr"/>
          <a:lstStyle/>
          <a:p>
            <a:pPr indent="0" marL="0">
              <a:buNone/>
            </a:pPr>
            <a:r>
              <a:rPr lang="en-US" sz="4000" spc="300" kern="0" dirty="0">
                <a:solidFill>
                  <a:srgbClr val="EDE6DA"/>
                </a:solidFill>
                <a:latin typeface="Century Gothic" pitchFamily="34" charset="0"/>
                <a:ea typeface="Century Gothic" pitchFamily="34" charset="-122"/>
                <a:cs typeface="Century Gothic" pitchFamily="34" charset="-120"/>
              </a:rPr>
              <a:t>L&amp;K WELLNESS</a:t>
            </a:r>
            <a:endParaRPr lang="en-US" sz="4000" dirty="0"/>
          </a:p>
        </p:txBody>
      </p:sp>
      <p:sp>
        <p:nvSpPr>
          <p:cNvPr id="5" name="Shape 3"/>
          <p:cNvSpPr/>
          <p:nvPr/>
        </p:nvSpPr>
        <p:spPr>
          <a:xfrm>
            <a:off x="502920" y="2121408"/>
            <a:ext cx="822960" cy="41148"/>
          </a:xfrm>
          <a:prstGeom prst="rect">
            <a:avLst/>
          </a:prstGeom>
          <a:solidFill>
            <a:srgbClr val="C08D7C"/>
          </a:solidFill>
          <a:ln w="12700">
            <a:solidFill>
              <a:srgbClr val="C08D7C"/>
            </a:solidFill>
            <a:prstDash val="solid"/>
          </a:ln>
        </p:spPr>
      </p:sp>
      <p:sp>
        <p:nvSpPr>
          <p:cNvPr id="6" name="Text 4"/>
          <p:cNvSpPr/>
          <p:nvPr/>
        </p:nvSpPr>
        <p:spPr>
          <a:xfrm>
            <a:off x="502920" y="2331720"/>
            <a:ext cx="8138160" cy="411480"/>
          </a:xfrm>
          <a:prstGeom prst="rect">
            <a:avLst/>
          </a:prstGeom>
          <a:noFill/>
          <a:ln/>
        </p:spPr>
        <p:txBody>
          <a:bodyPr wrap="square" rtlCol="0" anchor="ctr"/>
          <a:lstStyle/>
          <a:p>
            <a:pPr indent="0" marL="0">
              <a:buNone/>
            </a:pPr>
            <a:r>
              <a:rPr lang="en-US" sz="2000" dirty="0">
                <a:solidFill>
                  <a:srgbClr val="EDE6DA"/>
                </a:solidFill>
                <a:latin typeface="Century Gothic" pitchFamily="34" charset="0"/>
                <a:ea typeface="Century Gothic" pitchFamily="34" charset="-122"/>
                <a:cs typeface="Century Gothic" pitchFamily="34" charset="-120"/>
              </a:rPr>
              <a:t>A licensed clinic inside a private club.</a:t>
            </a:r>
            <a:endParaRPr lang="en-US" sz="2000" dirty="0"/>
          </a:p>
        </p:txBody>
      </p:sp>
      <p:sp>
        <p:nvSpPr>
          <p:cNvPr id="7" name="Text 5"/>
          <p:cNvSpPr/>
          <p:nvPr/>
        </p:nvSpPr>
        <p:spPr>
          <a:xfrm>
            <a:off x="502920" y="2788920"/>
            <a:ext cx="6510528" cy="457200"/>
          </a:xfrm>
          <a:prstGeom prst="rect">
            <a:avLst/>
          </a:prstGeom>
          <a:noFill/>
          <a:ln/>
        </p:spPr>
        <p:txBody>
          <a:bodyPr wrap="square" rtlCol="0" anchor="ctr"/>
          <a:lstStyle/>
          <a:p>
            <a:pPr indent="0" marL="0">
              <a:buNone/>
            </a:pPr>
            <a:r>
              <a:rPr lang="en-US" sz="1250" dirty="0">
                <a:solidFill>
                  <a:srgbClr val="C08D7C"/>
                </a:solidFill>
                <a:latin typeface="Calibri" pitchFamily="34" charset="0"/>
                <a:ea typeface="Calibri" pitchFamily="34" charset="-122"/>
                <a:cs typeface="Calibri" pitchFamily="34" charset="-120"/>
              </a:rPr>
              <a:t>The medicine is open to everyone. The room you want to stay in is members only.</a:t>
            </a:r>
            <a:endParaRPr lang="en-US" sz="1250" dirty="0"/>
          </a:p>
        </p:txBody>
      </p:sp>
      <p:sp>
        <p:nvSpPr>
          <p:cNvPr id="8" name="Text 6"/>
          <p:cNvSpPr/>
          <p:nvPr/>
        </p:nvSpPr>
        <p:spPr>
          <a:xfrm>
            <a:off x="502920" y="3429000"/>
            <a:ext cx="8138160" cy="274320"/>
          </a:xfrm>
          <a:prstGeom prst="rect">
            <a:avLst/>
          </a:prstGeom>
          <a:noFill/>
          <a:ln/>
        </p:spPr>
        <p:txBody>
          <a:bodyPr wrap="square" rtlCol="0" anchor="ctr"/>
          <a:lstStyle/>
          <a:p>
            <a:pPr indent="0" marL="0">
              <a:buNone/>
            </a:pPr>
            <a:r>
              <a:rPr lang="en-US" sz="1050" dirty="0">
                <a:solidFill>
                  <a:srgbClr val="A8A296"/>
                </a:solidFill>
                <a:latin typeface="Calibri" pitchFamily="34" charset="0"/>
                <a:ea typeface="Calibri" pitchFamily="34" charset="-122"/>
                <a:cs typeface="Calibri" pitchFamily="34" charset="-120"/>
              </a:rPr>
              <a:t>Playa Vista, California   ·   5,825 SF   ·   Est. 2026   ·   Surgical · private, $5.0M all equity</a:t>
            </a:r>
            <a:endParaRPr lang="en-US" sz="1050" dirty="0"/>
          </a:p>
        </p:txBody>
      </p:sp>
      <p:sp>
        <p:nvSpPr>
          <p:cNvPr id="9" name="Text 7"/>
          <p:cNvSpPr/>
          <p:nvPr/>
        </p:nvSpPr>
        <p:spPr>
          <a:xfrm>
            <a:off x="502920" y="4645152"/>
            <a:ext cx="8138160" cy="274320"/>
          </a:xfrm>
          <a:prstGeom prst="rect">
            <a:avLst/>
          </a:prstGeom>
          <a:noFill/>
          <a:ln/>
        </p:spPr>
        <p:txBody>
          <a:bodyPr wrap="square" rtlCol="0" anchor="ctr"/>
          <a:lstStyle/>
          <a:p>
            <a:pPr indent="0" marL="0">
              <a:buNone/>
            </a:pPr>
            <a:r>
              <a:rPr lang="en-US" sz="800" spc="200" kern="0" dirty="0">
                <a:solidFill>
                  <a:srgbClr val="A8A296"/>
                </a:solidFill>
                <a:latin typeface="Century Gothic" pitchFamily="34" charset="0"/>
                <a:ea typeface="Century Gothic" pitchFamily="34" charset="-122"/>
                <a:cs typeface="Century Gothic" pitchFamily="34" charset="-120"/>
              </a:rPr>
              <a:t>CONFIDENTIAL  ·  PRIVATE INVESTMENT BRIEF  ·  FOR QUALIFIED RECIPIENTS ONLY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PROBLEM</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Wellness on the Westside is fragmented.</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A patient optimizing their health today visits a medspa for injectables, a recovery studio for cold plunge, a longevity clinic for labs, and a concierge doctor for hormones. Four intakes, four records, four bills. Not one of them is somewhere you would choose to spend a Saturday morning.</a:t>
            </a:r>
            <a:endParaRPr lang="en-US" sz="1150" dirty="0"/>
          </a:p>
        </p:txBody>
      </p:sp>
      <p:sp>
        <p:nvSpPr>
          <p:cNvPr id="5" name="Shape 3"/>
          <p:cNvSpPr/>
          <p:nvPr/>
        </p:nvSpPr>
        <p:spPr>
          <a:xfrm>
            <a:off x="502920" y="2286000"/>
            <a:ext cx="2602992" cy="1554480"/>
          </a:xfrm>
          <a:prstGeom prst="roundRect">
            <a:avLst>
              <a:gd name="adj" fmla="val 3529"/>
            </a:avLst>
          </a:prstGeom>
          <a:solidFill>
            <a:srgbClr val="16241C"/>
          </a:solidFill>
          <a:ln w="12700">
            <a:solidFill>
              <a:srgbClr val="2E4237"/>
            </a:solidFill>
            <a:prstDash val="solid"/>
          </a:ln>
        </p:spPr>
      </p:sp>
      <p:sp>
        <p:nvSpPr>
          <p:cNvPr id="6" name="Text 4"/>
          <p:cNvSpPr/>
          <p:nvPr/>
        </p:nvSpPr>
        <p:spPr>
          <a:xfrm>
            <a:off x="649224"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4+</a:t>
            </a:r>
            <a:endParaRPr lang="en-US" sz="2000" dirty="0"/>
          </a:p>
        </p:txBody>
      </p:sp>
      <p:sp>
        <p:nvSpPr>
          <p:cNvPr id="7" name="Text 5"/>
          <p:cNvSpPr/>
          <p:nvPr/>
        </p:nvSpPr>
        <p:spPr>
          <a:xfrm>
            <a:off x="649224"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Separate providers a patient coordinates for care that belongs in one building.</a:t>
            </a:r>
            <a:endParaRPr lang="en-US" sz="900" dirty="0"/>
          </a:p>
        </p:txBody>
      </p:sp>
      <p:sp>
        <p:nvSpPr>
          <p:cNvPr id="8" name="Shape 6"/>
          <p:cNvSpPr/>
          <p:nvPr/>
        </p:nvSpPr>
        <p:spPr>
          <a:xfrm>
            <a:off x="3270504" y="2286000"/>
            <a:ext cx="2602992" cy="1554480"/>
          </a:xfrm>
          <a:prstGeom prst="roundRect">
            <a:avLst>
              <a:gd name="adj" fmla="val 3529"/>
            </a:avLst>
          </a:prstGeom>
          <a:solidFill>
            <a:srgbClr val="16241C"/>
          </a:solidFill>
          <a:ln w="12700">
            <a:solidFill>
              <a:srgbClr val="2E4237"/>
            </a:solidFill>
            <a:prstDash val="solid"/>
          </a:ln>
        </p:spPr>
      </p:sp>
      <p:sp>
        <p:nvSpPr>
          <p:cNvPr id="9" name="Text 7"/>
          <p:cNvSpPr/>
          <p:nvPr/>
        </p:nvSpPr>
        <p:spPr>
          <a:xfrm>
            <a:off x="3416808"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24 of 30</a:t>
            </a:r>
            <a:endParaRPr lang="en-US" sz="2000" dirty="0"/>
          </a:p>
        </p:txBody>
      </p:sp>
      <p:sp>
        <p:nvSpPr>
          <p:cNvPr id="10" name="Text 8"/>
          <p:cNvSpPr/>
          <p:nvPr/>
        </p:nvSpPr>
        <p:spPr>
          <a:xfrm>
            <a:off x="3416808"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Services on the L&amp;K menu that require a physician, nurse practitioner or nurse. A recovery studio without a physician can offer 6.</a:t>
            </a:r>
            <a:endParaRPr lang="en-US" sz="900" dirty="0"/>
          </a:p>
        </p:txBody>
      </p:sp>
      <p:sp>
        <p:nvSpPr>
          <p:cNvPr id="11" name="Shape 9"/>
          <p:cNvSpPr/>
          <p:nvPr/>
        </p:nvSpPr>
        <p:spPr>
          <a:xfrm>
            <a:off x="6038088" y="2286000"/>
            <a:ext cx="2602992" cy="1554480"/>
          </a:xfrm>
          <a:prstGeom prst="roundRect">
            <a:avLst>
              <a:gd name="adj" fmla="val 3529"/>
            </a:avLst>
          </a:prstGeom>
          <a:solidFill>
            <a:srgbClr val="16241C"/>
          </a:solidFill>
          <a:ln w="12700">
            <a:solidFill>
              <a:srgbClr val="2E4237"/>
            </a:solidFill>
            <a:prstDash val="solid"/>
          </a:ln>
        </p:spPr>
      </p:sp>
      <p:sp>
        <p:nvSpPr>
          <p:cNvPr id="12" name="Text 10"/>
          <p:cNvSpPr/>
          <p:nvPr/>
        </p:nvSpPr>
        <p:spPr>
          <a:xfrm>
            <a:off x="6184392"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10,488</a:t>
            </a:r>
            <a:endParaRPr lang="en-US" sz="2000" dirty="0"/>
          </a:p>
        </p:txBody>
      </p:sp>
      <p:sp>
        <p:nvSpPr>
          <p:cNvPr id="13" name="Text 11"/>
          <p:cNvSpPr/>
          <p:nvPr/>
        </p:nvSpPr>
        <p:spPr>
          <a:xfrm>
            <a:off x="6184392"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US medical spas as of 2023, up from 8,899 the year before. The category is commoditizing on treatment alone.</a:t>
            </a:r>
            <a:endParaRPr lang="en-US" sz="90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INSIGHT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Others proved the format.</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Only a licensed facility can deliver it.</a:t>
            </a:r>
            <a:endParaRPr lang="en-US" sz="1150" dirty="0"/>
          </a:p>
        </p:txBody>
      </p:sp>
      <p:sp>
        <p:nvSpPr>
          <p:cNvPr id="5" name="Shape 3"/>
          <p:cNvSpPr/>
          <p:nvPr/>
        </p:nvSpPr>
        <p:spPr>
          <a:xfrm>
            <a:off x="502920" y="1463040"/>
            <a:ext cx="3986784" cy="1371600"/>
          </a:xfrm>
          <a:prstGeom prst="roundRect">
            <a:avLst>
              <a:gd name="adj" fmla="val 4000"/>
            </a:avLst>
          </a:prstGeom>
          <a:solidFill>
            <a:srgbClr val="16241C"/>
          </a:solidFill>
          <a:ln w="12700">
            <a:solidFill>
              <a:srgbClr val="2E4237"/>
            </a:solidFill>
            <a:prstDash val="solid"/>
          </a:ln>
        </p:spPr>
      </p:sp>
      <p:sp>
        <p:nvSpPr>
          <p:cNvPr id="6" name="Text 4"/>
          <p:cNvSpPr/>
          <p:nvPr/>
        </p:nvSpPr>
        <p:spPr>
          <a:xfrm>
            <a:off x="649224" y="159105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Remedy Place</a:t>
            </a:r>
            <a:endParaRPr lang="en-US" sz="2000" dirty="0"/>
          </a:p>
        </p:txBody>
      </p:sp>
      <p:sp>
        <p:nvSpPr>
          <p:cNvPr id="7" name="Text 5"/>
          <p:cNvSpPr/>
          <p:nvPr/>
        </p:nvSpPr>
        <p:spPr>
          <a:xfrm>
            <a:off x="649224" y="2029968"/>
            <a:ext cx="3694176" cy="6766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Where a non-medical operator stops. No physician on site means no PRP, no IV therapy, no neuromodulators, no filler, no laser. Not features they skipped: the other side of a licensing threshold.</a:t>
            </a:r>
            <a:endParaRPr lang="en-US" sz="900" dirty="0"/>
          </a:p>
        </p:txBody>
      </p:sp>
      <p:sp>
        <p:nvSpPr>
          <p:cNvPr id="8" name="Shape 6"/>
          <p:cNvSpPr/>
          <p:nvPr/>
        </p:nvSpPr>
        <p:spPr>
          <a:xfrm>
            <a:off x="4654296" y="1463040"/>
            <a:ext cx="3986784" cy="1371600"/>
          </a:xfrm>
          <a:prstGeom prst="roundRect">
            <a:avLst>
              <a:gd name="adj" fmla="val 4000"/>
            </a:avLst>
          </a:prstGeom>
          <a:solidFill>
            <a:srgbClr val="16241C"/>
          </a:solidFill>
          <a:ln w="12700">
            <a:solidFill>
              <a:srgbClr val="2E4237"/>
            </a:solidFill>
            <a:prstDash val="solid"/>
          </a:ln>
        </p:spPr>
      </p:sp>
      <p:sp>
        <p:nvSpPr>
          <p:cNvPr id="9" name="Text 7"/>
          <p:cNvSpPr/>
          <p:nvPr/>
        </p:nvSpPr>
        <p:spPr>
          <a:xfrm>
            <a:off x="4800600" y="159105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Soho House</a:t>
            </a:r>
            <a:endParaRPr lang="en-US" sz="2000" dirty="0"/>
          </a:p>
        </p:txBody>
      </p:sp>
      <p:sp>
        <p:nvSpPr>
          <p:cNvPr id="10" name="Text 8"/>
          <p:cNvSpPr/>
          <p:nvPr/>
        </p:nvSpPr>
        <p:spPr>
          <a:xfrm>
            <a:off x="4800600" y="2029968"/>
            <a:ext cx="3694176" cy="6766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Where the ladder was proven. Soho Friends is a published annual tier buying discounts and event invitations but no club access. What they lack is medicine.</a:t>
            </a:r>
            <a:endParaRPr lang="en-US" sz="900" dirty="0"/>
          </a:p>
        </p:txBody>
      </p:sp>
      <p:sp>
        <p:nvSpPr>
          <p:cNvPr id="11" name="Shape 9"/>
          <p:cNvSpPr/>
          <p:nvPr/>
        </p:nvSpPr>
        <p:spPr>
          <a:xfrm>
            <a:off x="502920" y="3017520"/>
            <a:ext cx="8138160" cy="1417320"/>
          </a:xfrm>
          <a:prstGeom prst="roundRect">
            <a:avLst>
              <a:gd name="adj" fmla="val 3871"/>
            </a:avLst>
          </a:prstGeom>
          <a:solidFill>
            <a:srgbClr val="241C1A"/>
          </a:solidFill>
          <a:ln w="12700">
            <a:solidFill>
              <a:srgbClr val="C08D7C"/>
            </a:solidFill>
            <a:prstDash val="solid"/>
          </a:ln>
        </p:spPr>
      </p:sp>
      <p:sp>
        <p:nvSpPr>
          <p:cNvPr id="12" name="Text 10"/>
          <p:cNvSpPr/>
          <p:nvPr/>
        </p:nvSpPr>
        <p:spPr>
          <a:xfrm>
            <a:off x="704088" y="3154680"/>
            <a:ext cx="7735824" cy="201168"/>
          </a:xfrm>
          <a:prstGeom prst="rect">
            <a:avLst/>
          </a:prstGeom>
          <a:noFill/>
          <a:ln/>
        </p:spPr>
        <p:txBody>
          <a:bodyPr wrap="square" rtlCol="0" anchor="ctr"/>
          <a:lstStyle/>
          <a:p>
            <a:pPr indent="0" marL="0">
              <a:buNone/>
            </a:pPr>
            <a:r>
              <a:rPr lang="en-US" sz="850" spc="260" kern="0" dirty="0">
                <a:solidFill>
                  <a:srgbClr val="C08D7C"/>
                </a:solidFill>
                <a:latin typeface="Century Gothic" pitchFamily="34" charset="0"/>
                <a:ea typeface="Century Gothic" pitchFamily="34" charset="-122"/>
                <a:cs typeface="Century Gothic" pitchFamily="34" charset="-120"/>
              </a:rPr>
              <a:t>THE DIFFERENCE</a:t>
            </a:r>
            <a:endParaRPr lang="en-US" sz="850" dirty="0"/>
          </a:p>
        </p:txBody>
      </p:sp>
      <p:sp>
        <p:nvSpPr>
          <p:cNvPr id="13" name="Text 11"/>
          <p:cNvSpPr/>
          <p:nvPr/>
        </p:nvSpPr>
        <p:spPr>
          <a:xfrm>
            <a:off x="704088" y="3383280"/>
            <a:ext cx="7735824" cy="411480"/>
          </a:xfrm>
          <a:prstGeom prst="rect">
            <a:avLst/>
          </a:prstGeom>
          <a:noFill/>
          <a:ln/>
        </p:spPr>
        <p:txBody>
          <a:bodyPr wrap="square" rtlCol="0" anchor="ctr"/>
          <a:lstStyle/>
          <a:p>
            <a:pPr indent="0" marL="0">
              <a:buNone/>
            </a:pPr>
            <a:r>
              <a:rPr lang="en-US" sz="1450" dirty="0">
                <a:solidFill>
                  <a:srgbClr val="EDE6DA"/>
                </a:solidFill>
                <a:latin typeface="Century Gothic" pitchFamily="34" charset="0"/>
                <a:ea typeface="Century Gothic" pitchFamily="34" charset="-122"/>
                <a:cs typeface="Century Gothic" pitchFamily="34" charset="-120"/>
              </a:rPr>
              <a:t>L&amp;K is not a practice built around a doctor. It is the facility a doctor needs.</a:t>
            </a:r>
            <a:endParaRPr lang="en-US" sz="1450" dirty="0"/>
          </a:p>
        </p:txBody>
      </p:sp>
      <p:sp>
        <p:nvSpPr>
          <p:cNvPr id="14" name="Text 12"/>
          <p:cNvSpPr/>
          <p:nvPr/>
        </p:nvSpPr>
        <p:spPr>
          <a:xfrm>
            <a:off x="704088" y="3803904"/>
            <a:ext cx="7735824" cy="548640"/>
          </a:xfrm>
          <a:prstGeom prst="rect">
            <a:avLst/>
          </a:prstGeom>
          <a:noFill/>
          <a:ln/>
        </p:spPr>
        <p:txBody>
          <a:bodyPr wrap="square" rtlCol="0" anchor="ctr"/>
          <a:lstStyle/>
          <a:p>
            <a:pPr indent="0" marL="0">
              <a:lnSpc>
                <a:spcPct val="120000"/>
              </a:lnSpc>
              <a:buNone/>
            </a:pPr>
            <a:r>
              <a:rPr lang="en-US" sz="1050" dirty="0">
                <a:solidFill>
                  <a:srgbClr val="A8A296"/>
                </a:solidFill>
                <a:latin typeface="Calibri" pitchFamily="34" charset="0"/>
                <a:ea typeface="Calibri" pitchFamily="34" charset="-122"/>
                <a:cs typeface="Calibri" pitchFamily="34" charset="-120"/>
              </a:rPr>
              <a:t>The rooms, the diagnostics, the infusion suite, the operating suite, the staff and the accreditation, already standing. Physicians practice here. Investors own the building they practice in, which is why the surgical lines bill a facility fee while the surgeon bills their own patients directly.</a:t>
            </a:r>
            <a:endParaRPr lang="en-US" sz="105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MODEL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One building. Two layers. Different doors.</a:t>
            </a:r>
            <a:endParaRPr lang="en-US" sz="2600" dirty="0"/>
          </a:p>
        </p:txBody>
      </p:sp>
      <p:sp>
        <p:nvSpPr>
          <p:cNvPr id="4" name="Shape 2"/>
          <p:cNvSpPr/>
          <p:nvPr/>
        </p:nvSpPr>
        <p:spPr>
          <a:xfrm>
            <a:off x="1508760" y="1325880"/>
            <a:ext cx="6126480" cy="1325880"/>
          </a:xfrm>
          <a:prstGeom prst="roundRect">
            <a:avLst>
              <a:gd name="adj" fmla="val 4138"/>
            </a:avLst>
          </a:prstGeom>
          <a:solidFill>
            <a:srgbClr val="241C1A"/>
          </a:solidFill>
          <a:ln w="15875">
            <a:solidFill>
              <a:srgbClr val="C08D7C"/>
            </a:solidFill>
            <a:prstDash val="solid"/>
          </a:ln>
        </p:spPr>
      </p:sp>
      <p:sp>
        <p:nvSpPr>
          <p:cNvPr id="5" name="Text 3"/>
          <p:cNvSpPr/>
          <p:nvPr/>
        </p:nvSpPr>
        <p:spPr>
          <a:xfrm>
            <a:off x="1691640" y="1444752"/>
            <a:ext cx="5760720" cy="182880"/>
          </a:xfrm>
          <a:prstGeom prst="rect">
            <a:avLst/>
          </a:prstGeom>
          <a:noFill/>
          <a:ln/>
        </p:spPr>
        <p:txBody>
          <a:bodyPr wrap="square" rtlCol="0" anchor="ctr"/>
          <a:lstStyle/>
          <a:p>
            <a:pPr indent="0" marL="0">
              <a:buNone/>
            </a:pPr>
            <a:r>
              <a:rPr lang="en-US" sz="800" spc="240" kern="0" dirty="0">
                <a:solidFill>
                  <a:srgbClr val="C08D7C"/>
                </a:solidFill>
                <a:latin typeface="Century Gothic" pitchFamily="34" charset="0"/>
                <a:ea typeface="Century Gothic" pitchFamily="34" charset="-122"/>
                <a:cs typeface="Century Gothic" pitchFamily="34" charset="-120"/>
              </a:rPr>
              <a:t>MEMBERS ONLY  ·  CAPPED</a:t>
            </a:r>
            <a:endParaRPr lang="en-US" sz="800" dirty="0"/>
          </a:p>
        </p:txBody>
      </p:sp>
      <p:sp>
        <p:nvSpPr>
          <p:cNvPr id="6" name="Text 4"/>
          <p:cNvSpPr/>
          <p:nvPr/>
        </p:nvSpPr>
        <p:spPr>
          <a:xfrm>
            <a:off x="1691640" y="1627632"/>
            <a:ext cx="5760720" cy="292608"/>
          </a:xfrm>
          <a:prstGeom prst="rect">
            <a:avLst/>
          </a:prstGeom>
          <a:noFill/>
          <a:ln/>
        </p:spPr>
        <p:txBody>
          <a:bodyPr wrap="square" rtlCol="0" anchor="ctr"/>
          <a:lstStyle/>
          <a:p>
            <a:pPr indent="0" marL="0">
              <a:buNone/>
            </a:pPr>
            <a:r>
              <a:rPr lang="en-US" sz="1600" dirty="0">
                <a:solidFill>
                  <a:srgbClr val="EDE6DA"/>
                </a:solidFill>
                <a:latin typeface="Century Gothic" pitchFamily="34" charset="0"/>
                <a:ea typeface="Century Gothic" pitchFamily="34" charset="-122"/>
                <a:cs typeface="Century Gothic" pitchFamily="34" charset="-120"/>
              </a:rPr>
              <a:t>The Club</a:t>
            </a:r>
            <a:endParaRPr lang="en-US" sz="1600" dirty="0"/>
          </a:p>
        </p:txBody>
      </p:sp>
      <p:sp>
        <p:nvSpPr>
          <p:cNvPr id="7" name="Text 5"/>
          <p:cNvSpPr/>
          <p:nvPr/>
        </p:nvSpPr>
        <p:spPr>
          <a:xfrm>
            <a:off x="1691640" y="1956816"/>
            <a:ext cx="5760720" cy="548640"/>
          </a:xfrm>
          <a:prstGeom prst="rect">
            <a:avLst/>
          </a:prstGeom>
          <a:noFill/>
          <a:ln/>
        </p:spPr>
        <p:txBody>
          <a:bodyPr wrap="square" rtlCol="0" anchor="ctr"/>
          <a:lstStyle/>
          <a:p>
            <a:pPr indent="0" marL="0">
              <a:lnSpc>
                <a:spcPct val="120000"/>
              </a:lnSpc>
              <a:buNone/>
            </a:pPr>
            <a:r>
              <a:rPr lang="en-US" sz="1000" dirty="0">
                <a:solidFill>
                  <a:srgbClr val="A8A296"/>
                </a:solidFill>
                <a:latin typeface="Calibri" pitchFamily="34" charset="0"/>
                <a:ea typeface="Calibri" pitchFamily="34" charset="-122"/>
                <a:cs typeface="Calibri" pitchFamily="34" charset="-120"/>
              </a:rPr>
              <a:t>Contrast suite  ·  Sauna and cold plunge ritual  ·  The Lounge  ·  Member events  ·  Guest passes  ·  Priority booking  ·  Private buyouts</a:t>
            </a:r>
            <a:endParaRPr lang="en-US" sz="1000" dirty="0"/>
          </a:p>
        </p:txBody>
      </p:sp>
      <p:sp>
        <p:nvSpPr>
          <p:cNvPr id="8" name="Text 6"/>
          <p:cNvSpPr/>
          <p:nvPr/>
        </p:nvSpPr>
        <p:spPr>
          <a:xfrm>
            <a:off x="502920" y="2697480"/>
            <a:ext cx="8138160" cy="237744"/>
          </a:xfrm>
          <a:prstGeom prst="rect">
            <a:avLst/>
          </a:prstGeom>
          <a:noFill/>
          <a:ln/>
        </p:spPr>
        <p:txBody>
          <a:bodyPr wrap="square" rtlCol="0" anchor="ctr"/>
          <a:lstStyle/>
          <a:p>
            <a:pPr algn="ctr" indent="0" marL="0">
              <a:buNone/>
            </a:pPr>
            <a:r>
              <a:rPr lang="en-US" sz="900" spc="200" kern="0" dirty="0">
                <a:solidFill>
                  <a:srgbClr val="6E6A62"/>
                </a:solidFill>
                <a:latin typeface="Century Gothic" pitchFamily="34" charset="0"/>
                <a:ea typeface="Century Gothic" pitchFamily="34" charset="-122"/>
                <a:cs typeface="Century Gothic" pitchFamily="34" charset="-120"/>
              </a:rPr>
              <a:t>Membership sits on top. It never sits in front.</a:t>
            </a:r>
            <a:endParaRPr lang="en-US" sz="900" dirty="0"/>
          </a:p>
        </p:txBody>
      </p:sp>
      <p:sp>
        <p:nvSpPr>
          <p:cNvPr id="9" name="Shape 7"/>
          <p:cNvSpPr/>
          <p:nvPr/>
        </p:nvSpPr>
        <p:spPr>
          <a:xfrm>
            <a:off x="502920" y="2999232"/>
            <a:ext cx="8138160" cy="1600200"/>
          </a:xfrm>
          <a:prstGeom prst="roundRect">
            <a:avLst>
              <a:gd name="adj" fmla="val 3429"/>
            </a:avLst>
          </a:prstGeom>
          <a:solidFill>
            <a:srgbClr val="16241C"/>
          </a:solidFill>
          <a:ln w="12700">
            <a:solidFill>
              <a:srgbClr val="2E4237"/>
            </a:solidFill>
            <a:prstDash val="solid"/>
          </a:ln>
        </p:spPr>
      </p:sp>
      <p:sp>
        <p:nvSpPr>
          <p:cNvPr id="10" name="Text 8"/>
          <p:cNvSpPr/>
          <p:nvPr/>
        </p:nvSpPr>
        <p:spPr>
          <a:xfrm>
            <a:off x="704088" y="3127248"/>
            <a:ext cx="7735824" cy="182880"/>
          </a:xfrm>
          <a:prstGeom prst="rect">
            <a:avLst/>
          </a:prstGeom>
          <a:noFill/>
          <a:ln/>
        </p:spPr>
        <p:txBody>
          <a:bodyPr wrap="square" rtlCol="0" anchor="ctr"/>
          <a:lstStyle/>
          <a:p>
            <a:pPr indent="0" marL="0">
              <a:buNone/>
            </a:pPr>
            <a:r>
              <a:rPr lang="en-US" sz="800" spc="240" kern="0" dirty="0">
                <a:solidFill>
                  <a:srgbClr val="6E6A62"/>
                </a:solidFill>
                <a:latin typeface="Century Gothic" pitchFamily="34" charset="0"/>
                <a:ea typeface="Century Gothic" pitchFamily="34" charset="-122"/>
                <a:cs typeface="Century Gothic" pitchFamily="34" charset="-120"/>
              </a:rPr>
              <a:t>OPEN TO EVERYONE  ·  NO MEMBERSHIP REQUIRED</a:t>
            </a:r>
            <a:endParaRPr lang="en-US" sz="800" dirty="0"/>
          </a:p>
        </p:txBody>
      </p:sp>
      <p:sp>
        <p:nvSpPr>
          <p:cNvPr id="11" name="Text 9"/>
          <p:cNvSpPr/>
          <p:nvPr/>
        </p:nvSpPr>
        <p:spPr>
          <a:xfrm>
            <a:off x="704088" y="3291840"/>
            <a:ext cx="7735824" cy="274320"/>
          </a:xfrm>
          <a:prstGeom prst="rect">
            <a:avLst/>
          </a:prstGeom>
          <a:noFill/>
          <a:ln/>
        </p:spPr>
        <p:txBody>
          <a:bodyPr wrap="square" rtlCol="0" anchor="ctr"/>
          <a:lstStyle/>
          <a:p>
            <a:pPr indent="0" marL="0">
              <a:buNone/>
            </a:pPr>
            <a:r>
              <a:rPr lang="en-US" sz="1600" dirty="0">
                <a:solidFill>
                  <a:srgbClr val="EDE6DA"/>
                </a:solidFill>
                <a:latin typeface="Century Gothic" pitchFamily="34" charset="0"/>
                <a:ea typeface="Century Gothic" pitchFamily="34" charset="-122"/>
                <a:cs typeface="Century Gothic" pitchFamily="34" charset="-120"/>
              </a:rPr>
              <a:t>The Clinic</a:t>
            </a:r>
            <a:endParaRPr lang="en-US" sz="1600" dirty="0"/>
          </a:p>
        </p:txBody>
      </p:sp>
      <p:sp>
        <p:nvSpPr>
          <p:cNvPr id="12" name="Text 10"/>
          <p:cNvSpPr/>
          <p:nvPr/>
        </p:nvSpPr>
        <p:spPr>
          <a:xfrm>
            <a:off x="704088" y="3602736"/>
            <a:ext cx="7735824" cy="932688"/>
          </a:xfrm>
          <a:prstGeom prst="rect">
            <a:avLst/>
          </a:prstGeom>
          <a:noFill/>
          <a:ln/>
        </p:spPr>
        <p:txBody>
          <a:bodyPr wrap="square" rtlCol="0" anchor="t"/>
          <a:lstStyle/>
          <a:p>
            <a:pPr indent="0" marL="0">
              <a:lnSpc>
                <a:spcPct val="120000"/>
              </a:lnSpc>
              <a:buNone/>
            </a:pPr>
            <a:r>
              <a:rPr lang="en-US" sz="950" dirty="0">
                <a:solidFill>
                  <a:srgbClr val="A8A296"/>
                </a:solidFill>
                <a:latin typeface="Calibri" pitchFamily="34" charset="0"/>
                <a:ea typeface="Calibri" pitchFamily="34" charset="-122"/>
                <a:cs typeface="Calibri" pitchFamily="34" charset="-120"/>
              </a:rPr>
              <a:t>Aescape Robotic Massage  ·  Ammortal Chamber  ·  Red Light Therapy  ·  Hyperbaric Oxygen  ·  Compression Therapy  ·  PRP: Hair &amp; Scalp  ·  PRP: Face &amp; Aesthetic  ·  PRP: Scar &amp; Skin Repair  ·  PRP: Soft Tissue  ·  PRP: Joint &amp; Cartilage  ·  PRP: Post-procedure  ·  Basic Hydration  ·  Myers Cocktail  ·  Recovery / Hangover  ·  Immunity / High-Dose C  ·  Beauty / Glutathione  ·  Athletic Performance  ·  NAD+ 100mg  ·  NAD+ 250mg  ·  NAD+ 500mg  ·  IM Shot: B12 / Lipo  ·  Therapeutic medications  ·  Botox (15-unit minimum)  ·  Filler (0.5 ml)  ·  RF Microneedling  ·  Laser Platform  ·  Advanced Biometrics  ·  DNA Analysis  ·  DUTCH Plus Test  ·  DEXA Scan  ·  plus 7 surgical lines, detailed overleaf</a:t>
            </a:r>
            <a:endParaRPr lang="en-US" sz="950" dirty="0"/>
          </a:p>
        </p:txBody>
      </p:sp>
      <p:sp>
        <p:nvSpPr>
          <p:cNvPr id="13" name="Text 11"/>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14" name="Text 12"/>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OFFERING</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Five verbs, not a billing menu.</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information architecture borrows from how a health club organizes itself rather than how a clinic does. Patients do not shop by billing code; they arrive wanting to feel a specific way.</a:t>
            </a:r>
            <a:endParaRPr lang="en-US" sz="1150" dirty="0"/>
          </a:p>
        </p:txBody>
      </p:sp>
      <p:sp>
        <p:nvSpPr>
          <p:cNvPr id="5" name="Shape 3"/>
          <p:cNvSpPr/>
          <p:nvPr/>
        </p:nvSpPr>
        <p:spPr>
          <a:xfrm>
            <a:off x="502920" y="1965960"/>
            <a:ext cx="1525219" cy="2286000"/>
          </a:xfrm>
          <a:prstGeom prst="roundRect">
            <a:avLst>
              <a:gd name="adj" fmla="val 3597"/>
            </a:avLst>
          </a:prstGeom>
          <a:solidFill>
            <a:srgbClr val="16241C"/>
          </a:solidFill>
          <a:ln w="12700">
            <a:solidFill>
              <a:srgbClr val="2E4237"/>
            </a:solidFill>
            <a:prstDash val="solid"/>
          </a:ln>
        </p:spPr>
      </p:sp>
      <p:sp>
        <p:nvSpPr>
          <p:cNvPr id="6" name="Text 4"/>
          <p:cNvSpPr/>
          <p:nvPr/>
        </p:nvSpPr>
        <p:spPr>
          <a:xfrm>
            <a:off x="621792" y="2084832"/>
            <a:ext cx="1287475"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RESTORE</a:t>
            </a:r>
            <a:endParaRPr lang="en-US" sz="750" dirty="0"/>
          </a:p>
        </p:txBody>
      </p:sp>
      <p:sp>
        <p:nvSpPr>
          <p:cNvPr id="7" name="Text 5"/>
          <p:cNvSpPr/>
          <p:nvPr/>
        </p:nvSpPr>
        <p:spPr>
          <a:xfrm>
            <a:off x="621792" y="2286000"/>
            <a:ext cx="1287475" cy="237744"/>
          </a:xfrm>
          <a:prstGeom prst="rect">
            <a:avLst/>
          </a:prstGeom>
          <a:noFill/>
          <a:ln/>
        </p:spPr>
        <p:txBody>
          <a:bodyPr wrap="square" rtlCol="0" anchor="t"/>
          <a:lstStyle/>
          <a:p>
            <a:pPr indent="0" marL="0">
              <a:buNone/>
            </a:pPr>
            <a:r>
              <a:rPr lang="en-US" sz="1200" dirty="0">
                <a:solidFill>
                  <a:srgbClr val="EDE6DA"/>
                </a:solidFill>
                <a:latin typeface="Century Gothic" pitchFamily="34" charset="0"/>
                <a:ea typeface="Century Gothic" pitchFamily="34" charset="-122"/>
                <a:cs typeface="Century Gothic" pitchFamily="34" charset="-120"/>
              </a:rPr>
              <a:t>Regenerative</a:t>
            </a:r>
            <a:endParaRPr lang="en-US" sz="1200" dirty="0"/>
          </a:p>
        </p:txBody>
      </p:sp>
      <p:sp>
        <p:nvSpPr>
          <p:cNvPr id="8" name="Text 6"/>
          <p:cNvSpPr/>
          <p:nvPr/>
        </p:nvSpPr>
        <p:spPr>
          <a:xfrm>
            <a:off x="621792" y="2578608"/>
            <a:ext cx="1287475" cy="1554480"/>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Six PRP protocols, therapeutic medications, a ten-drip infusion menu and NAD+ by dose.</a:t>
            </a:r>
            <a:endParaRPr lang="en-US" sz="800" dirty="0"/>
          </a:p>
        </p:txBody>
      </p:sp>
      <p:sp>
        <p:nvSpPr>
          <p:cNvPr id="9" name="Shape 7"/>
          <p:cNvSpPr/>
          <p:nvPr/>
        </p:nvSpPr>
        <p:spPr>
          <a:xfrm>
            <a:off x="2156155" y="1965960"/>
            <a:ext cx="1525219" cy="2286000"/>
          </a:xfrm>
          <a:prstGeom prst="roundRect">
            <a:avLst>
              <a:gd name="adj" fmla="val 3597"/>
            </a:avLst>
          </a:prstGeom>
          <a:solidFill>
            <a:srgbClr val="16241C"/>
          </a:solidFill>
          <a:ln w="12700">
            <a:solidFill>
              <a:srgbClr val="2E4237"/>
            </a:solidFill>
            <a:prstDash val="solid"/>
          </a:ln>
        </p:spPr>
      </p:sp>
      <p:sp>
        <p:nvSpPr>
          <p:cNvPr id="10" name="Text 8"/>
          <p:cNvSpPr/>
          <p:nvPr/>
        </p:nvSpPr>
        <p:spPr>
          <a:xfrm>
            <a:off x="2275027" y="2084832"/>
            <a:ext cx="1287475"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RENEW</a:t>
            </a:r>
            <a:endParaRPr lang="en-US" sz="750" dirty="0"/>
          </a:p>
        </p:txBody>
      </p:sp>
      <p:sp>
        <p:nvSpPr>
          <p:cNvPr id="11" name="Text 9"/>
          <p:cNvSpPr/>
          <p:nvPr/>
        </p:nvSpPr>
        <p:spPr>
          <a:xfrm>
            <a:off x="2275027" y="2286000"/>
            <a:ext cx="1287475" cy="237744"/>
          </a:xfrm>
          <a:prstGeom prst="rect">
            <a:avLst/>
          </a:prstGeom>
          <a:noFill/>
          <a:ln/>
        </p:spPr>
        <p:txBody>
          <a:bodyPr wrap="square" rtlCol="0" anchor="t"/>
          <a:lstStyle/>
          <a:p>
            <a:pPr indent="0" marL="0">
              <a:buNone/>
            </a:pPr>
            <a:r>
              <a:rPr lang="en-US" sz="1200" dirty="0">
                <a:solidFill>
                  <a:srgbClr val="EDE6DA"/>
                </a:solidFill>
                <a:latin typeface="Century Gothic" pitchFamily="34" charset="0"/>
                <a:ea typeface="Century Gothic" pitchFamily="34" charset="-122"/>
                <a:cs typeface="Century Gothic" pitchFamily="34" charset="-120"/>
              </a:rPr>
              <a:t>Aesthetics</a:t>
            </a:r>
            <a:endParaRPr lang="en-US" sz="1200" dirty="0"/>
          </a:p>
        </p:txBody>
      </p:sp>
      <p:sp>
        <p:nvSpPr>
          <p:cNvPr id="12" name="Text 10"/>
          <p:cNvSpPr/>
          <p:nvPr/>
        </p:nvSpPr>
        <p:spPr>
          <a:xfrm>
            <a:off x="2275027" y="2578608"/>
            <a:ext cx="1287475" cy="1554480"/>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Neuromodulators and filler, RF microneedling, laser resurfacing.</a:t>
            </a:r>
            <a:endParaRPr lang="en-US" sz="800" dirty="0"/>
          </a:p>
        </p:txBody>
      </p:sp>
      <p:sp>
        <p:nvSpPr>
          <p:cNvPr id="13" name="Shape 11"/>
          <p:cNvSpPr/>
          <p:nvPr/>
        </p:nvSpPr>
        <p:spPr>
          <a:xfrm>
            <a:off x="3809390" y="1965960"/>
            <a:ext cx="1525219" cy="2286000"/>
          </a:xfrm>
          <a:prstGeom prst="roundRect">
            <a:avLst>
              <a:gd name="adj" fmla="val 3597"/>
            </a:avLst>
          </a:prstGeom>
          <a:solidFill>
            <a:srgbClr val="16241C"/>
          </a:solidFill>
          <a:ln w="12700">
            <a:solidFill>
              <a:srgbClr val="2E4237"/>
            </a:solidFill>
            <a:prstDash val="solid"/>
          </a:ln>
        </p:spPr>
      </p:sp>
      <p:sp>
        <p:nvSpPr>
          <p:cNvPr id="14" name="Text 12"/>
          <p:cNvSpPr/>
          <p:nvPr/>
        </p:nvSpPr>
        <p:spPr>
          <a:xfrm>
            <a:off x="3928262" y="2084832"/>
            <a:ext cx="1287475"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RECOVER</a:t>
            </a:r>
            <a:endParaRPr lang="en-US" sz="750" dirty="0"/>
          </a:p>
        </p:txBody>
      </p:sp>
      <p:sp>
        <p:nvSpPr>
          <p:cNvPr id="15" name="Text 13"/>
          <p:cNvSpPr/>
          <p:nvPr/>
        </p:nvSpPr>
        <p:spPr>
          <a:xfrm>
            <a:off x="3928262" y="2286000"/>
            <a:ext cx="1287475" cy="237744"/>
          </a:xfrm>
          <a:prstGeom prst="rect">
            <a:avLst/>
          </a:prstGeom>
          <a:noFill/>
          <a:ln/>
        </p:spPr>
        <p:txBody>
          <a:bodyPr wrap="square" rtlCol="0" anchor="t"/>
          <a:lstStyle/>
          <a:p>
            <a:pPr indent="0" marL="0">
              <a:buNone/>
            </a:pPr>
            <a:r>
              <a:rPr lang="en-US" sz="1200" dirty="0">
                <a:solidFill>
                  <a:srgbClr val="EDE6DA"/>
                </a:solidFill>
                <a:latin typeface="Century Gothic" pitchFamily="34" charset="0"/>
                <a:ea typeface="Century Gothic" pitchFamily="34" charset="-122"/>
                <a:cs typeface="Century Gothic" pitchFamily="34" charset="-120"/>
              </a:rPr>
              <a:t>Recovery</a:t>
            </a:r>
            <a:endParaRPr lang="en-US" sz="1200" dirty="0"/>
          </a:p>
        </p:txBody>
      </p:sp>
      <p:sp>
        <p:nvSpPr>
          <p:cNvPr id="16" name="Text 14"/>
          <p:cNvSpPr/>
          <p:nvPr/>
        </p:nvSpPr>
        <p:spPr>
          <a:xfrm>
            <a:off x="3928262" y="2578608"/>
            <a:ext cx="1287475" cy="1554480"/>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Hyperbaric oxygen, Ammortal chambers, robotic massage, compression, red light.</a:t>
            </a:r>
            <a:endParaRPr lang="en-US" sz="800" dirty="0"/>
          </a:p>
        </p:txBody>
      </p:sp>
      <p:sp>
        <p:nvSpPr>
          <p:cNvPr id="17" name="Shape 15"/>
          <p:cNvSpPr/>
          <p:nvPr/>
        </p:nvSpPr>
        <p:spPr>
          <a:xfrm>
            <a:off x="5462626" y="1965960"/>
            <a:ext cx="1525219" cy="2286000"/>
          </a:xfrm>
          <a:prstGeom prst="roundRect">
            <a:avLst>
              <a:gd name="adj" fmla="val 3597"/>
            </a:avLst>
          </a:prstGeom>
          <a:solidFill>
            <a:srgbClr val="16241C"/>
          </a:solidFill>
          <a:ln w="12700">
            <a:solidFill>
              <a:srgbClr val="2E4237"/>
            </a:solidFill>
            <a:prstDash val="solid"/>
          </a:ln>
        </p:spPr>
      </p:sp>
      <p:sp>
        <p:nvSpPr>
          <p:cNvPr id="18" name="Text 16"/>
          <p:cNvSpPr/>
          <p:nvPr/>
        </p:nvSpPr>
        <p:spPr>
          <a:xfrm>
            <a:off x="5581498" y="2084832"/>
            <a:ext cx="1287475"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RESET</a:t>
            </a:r>
            <a:endParaRPr lang="en-US" sz="750" dirty="0"/>
          </a:p>
        </p:txBody>
      </p:sp>
      <p:sp>
        <p:nvSpPr>
          <p:cNvPr id="19" name="Text 17"/>
          <p:cNvSpPr/>
          <p:nvPr/>
        </p:nvSpPr>
        <p:spPr>
          <a:xfrm>
            <a:off x="5581498" y="2286000"/>
            <a:ext cx="1287475" cy="237744"/>
          </a:xfrm>
          <a:prstGeom prst="rect">
            <a:avLst/>
          </a:prstGeom>
          <a:noFill/>
          <a:ln/>
        </p:spPr>
        <p:txBody>
          <a:bodyPr wrap="square" rtlCol="0" anchor="t"/>
          <a:lstStyle/>
          <a:p>
            <a:pPr indent="0" marL="0">
              <a:buNone/>
            </a:pPr>
            <a:r>
              <a:rPr lang="en-US" sz="1200" dirty="0">
                <a:solidFill>
                  <a:srgbClr val="EDE6DA"/>
                </a:solidFill>
                <a:latin typeface="Century Gothic" pitchFamily="34" charset="0"/>
                <a:ea typeface="Century Gothic" pitchFamily="34" charset="-122"/>
                <a:cs typeface="Century Gothic" pitchFamily="34" charset="-120"/>
              </a:rPr>
              <a:t>Diagnostics</a:t>
            </a:r>
            <a:endParaRPr lang="en-US" sz="1200" dirty="0"/>
          </a:p>
        </p:txBody>
      </p:sp>
      <p:sp>
        <p:nvSpPr>
          <p:cNvPr id="20" name="Text 18"/>
          <p:cNvSpPr/>
          <p:nvPr/>
        </p:nvSpPr>
        <p:spPr>
          <a:xfrm>
            <a:off x="5581498" y="2578608"/>
            <a:ext cx="1287475" cy="1554480"/>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Advanced biometrics, DEXA, DUTCH, DNA analysis. The baseline everything else is measured against.</a:t>
            </a:r>
            <a:endParaRPr lang="en-US" sz="800" dirty="0"/>
          </a:p>
        </p:txBody>
      </p:sp>
      <p:sp>
        <p:nvSpPr>
          <p:cNvPr id="21" name="Shape 19"/>
          <p:cNvSpPr/>
          <p:nvPr/>
        </p:nvSpPr>
        <p:spPr>
          <a:xfrm>
            <a:off x="7115861" y="1965960"/>
            <a:ext cx="1525219" cy="2286000"/>
          </a:xfrm>
          <a:prstGeom prst="roundRect">
            <a:avLst>
              <a:gd name="adj" fmla="val 3597"/>
            </a:avLst>
          </a:prstGeom>
          <a:solidFill>
            <a:srgbClr val="16241C"/>
          </a:solidFill>
          <a:ln w="12700">
            <a:solidFill>
              <a:srgbClr val="2E4237"/>
            </a:solidFill>
            <a:prstDash val="solid"/>
          </a:ln>
        </p:spPr>
      </p:sp>
      <p:sp>
        <p:nvSpPr>
          <p:cNvPr id="22" name="Text 20"/>
          <p:cNvSpPr/>
          <p:nvPr/>
        </p:nvSpPr>
        <p:spPr>
          <a:xfrm>
            <a:off x="7234733" y="2084832"/>
            <a:ext cx="1287475"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RECONNECT</a:t>
            </a:r>
            <a:endParaRPr lang="en-US" sz="750" dirty="0"/>
          </a:p>
        </p:txBody>
      </p:sp>
      <p:sp>
        <p:nvSpPr>
          <p:cNvPr id="23" name="Text 21"/>
          <p:cNvSpPr/>
          <p:nvPr/>
        </p:nvSpPr>
        <p:spPr>
          <a:xfrm>
            <a:off x="7234733" y="2286000"/>
            <a:ext cx="1287475" cy="237744"/>
          </a:xfrm>
          <a:prstGeom prst="rect">
            <a:avLst/>
          </a:prstGeom>
          <a:noFill/>
          <a:ln/>
        </p:spPr>
        <p:txBody>
          <a:bodyPr wrap="square" rtlCol="0" anchor="t"/>
          <a:lstStyle/>
          <a:p>
            <a:pPr indent="0" marL="0">
              <a:buNone/>
            </a:pPr>
            <a:r>
              <a:rPr lang="en-US" sz="1200" dirty="0">
                <a:solidFill>
                  <a:srgbClr val="EDE6DA"/>
                </a:solidFill>
                <a:latin typeface="Century Gothic" pitchFamily="34" charset="0"/>
                <a:ea typeface="Century Gothic" pitchFamily="34" charset="-122"/>
                <a:cs typeface="Century Gothic" pitchFamily="34" charset="-120"/>
              </a:rPr>
              <a:t>The Club</a:t>
            </a:r>
            <a:endParaRPr lang="en-US" sz="1200" dirty="0"/>
          </a:p>
        </p:txBody>
      </p:sp>
      <p:sp>
        <p:nvSpPr>
          <p:cNvPr id="24" name="Text 22"/>
          <p:cNvSpPr/>
          <p:nvPr/>
        </p:nvSpPr>
        <p:spPr>
          <a:xfrm>
            <a:off x="7234733" y="2578608"/>
            <a:ext cx="1287475" cy="1554480"/>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 contrast suite, the Lounge, member events, and guest privileges. The reason your membership becomes part of your routine, not just your recovery.</a:t>
            </a:r>
            <a:endParaRPr lang="en-US" sz="800" dirty="0"/>
          </a:p>
        </p:txBody>
      </p:sp>
      <p:sp>
        <p:nvSpPr>
          <p:cNvPr id="25" name="Text 2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26" name="Text 2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SURGERY SUITE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One accredited operating room, inside the clinic.</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A 900 SF office-based surgery suite planned to the published iOR Partners specification, accredited by Quad A. It sits in the clinic layer, so anyone can book it, surgery is never a membership benefit. L&amp;K bills a facility fee; the operating surgeon is a principal who bills their professional fee directly.</a:t>
            </a:r>
            <a:endParaRPr lang="en-US" sz="1150" dirty="0"/>
          </a:p>
        </p:txBody>
      </p:sp>
      <p:sp>
        <p:nvSpPr>
          <p:cNvPr id="5" name="Shape 3"/>
          <p:cNvSpPr/>
          <p:nvPr/>
        </p:nvSpPr>
        <p:spPr>
          <a:xfrm>
            <a:off x="502920" y="1645920"/>
            <a:ext cx="8138160" cy="841248"/>
          </a:xfrm>
          <a:prstGeom prst="roundRect">
            <a:avLst>
              <a:gd name="adj" fmla="val 6522"/>
            </a:avLst>
          </a:prstGeom>
          <a:solidFill>
            <a:srgbClr val="241C1A"/>
          </a:solidFill>
          <a:ln w="15875">
            <a:solidFill>
              <a:srgbClr val="C08D7C"/>
            </a:solidFill>
            <a:prstDash val="solid"/>
          </a:ln>
        </p:spPr>
      </p:sp>
      <p:sp>
        <p:nvSpPr>
          <p:cNvPr id="6" name="Text 4"/>
          <p:cNvSpPr/>
          <p:nvPr/>
        </p:nvSpPr>
        <p:spPr>
          <a:xfrm>
            <a:off x="704088" y="1737360"/>
            <a:ext cx="7735824" cy="256032"/>
          </a:xfrm>
          <a:prstGeom prst="rect">
            <a:avLst/>
          </a:prstGeom>
          <a:noFill/>
          <a:ln/>
        </p:spPr>
        <p:txBody>
          <a:bodyPr wrap="square" rtlCol="0" anchor="ctr"/>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Moderate sedation. Under two hours of recovery. Nothing above that line.</a:t>
            </a:r>
            <a:endParaRPr lang="en-US" sz="1300" dirty="0"/>
          </a:p>
        </p:txBody>
      </p:sp>
      <p:sp>
        <p:nvSpPr>
          <p:cNvPr id="7" name="Text 5"/>
          <p:cNvSpPr/>
          <p:nvPr/>
        </p:nvSpPr>
        <p:spPr>
          <a:xfrm>
            <a:off x="704088" y="2011680"/>
            <a:ext cx="7735824" cy="420624"/>
          </a:xfrm>
          <a:prstGeom prst="rect">
            <a:avLst/>
          </a:prstGeom>
          <a:noFill/>
          <a:ln/>
        </p:spPr>
        <p:txBody>
          <a:bodyPr wrap="square" rtlCol="0" anchor="ctr"/>
          <a:lstStyle/>
          <a:p>
            <a:pPr indent="0" marL="0">
              <a:lnSpc>
                <a:spcPct val="112000"/>
              </a:lnSpc>
              <a:buNone/>
            </a:pPr>
            <a:r>
              <a:rPr lang="en-US" sz="900" dirty="0">
                <a:solidFill>
                  <a:srgbClr val="A8A296"/>
                </a:solidFill>
                <a:latin typeface="Calibri" pitchFamily="34" charset="0"/>
                <a:ea typeface="Calibri" pitchFamily="34" charset="-122"/>
                <a:cs typeface="Calibri" pitchFamily="34" charset="-120"/>
              </a:rPr>
              <a:t>A design decision, not a limitation. It is why there is no anesthesiologist on payroll, no anesthesia machine in the budget, and only three PACU bays. California requires accreditation only when protective reflexes may be lost; moderate sedation preserves them, so this suite sits below the trigger. We accredit anyway.</a:t>
            </a:r>
            <a:endParaRPr lang="en-US" sz="900" dirty="0"/>
          </a:p>
        </p:txBody>
      </p:sp>
      <p:sp>
        <p:nvSpPr>
          <p:cNvPr id="8" name="Shape 6"/>
          <p:cNvSpPr/>
          <p:nvPr/>
        </p:nvSpPr>
        <p:spPr>
          <a:xfrm>
            <a:off x="502920" y="2578608"/>
            <a:ext cx="3986784" cy="1901952"/>
          </a:xfrm>
          <a:prstGeom prst="roundRect">
            <a:avLst>
              <a:gd name="adj" fmla="val 2885"/>
            </a:avLst>
          </a:prstGeom>
          <a:solidFill>
            <a:srgbClr val="16241C"/>
          </a:solidFill>
          <a:ln w="12700">
            <a:solidFill>
              <a:srgbClr val="2E4237"/>
            </a:solidFill>
            <a:prstDash val="solid"/>
          </a:ln>
        </p:spPr>
      </p:sp>
      <p:sp>
        <p:nvSpPr>
          <p:cNvPr id="9" name="Text 7"/>
          <p:cNvSpPr/>
          <p:nvPr/>
        </p:nvSpPr>
        <p:spPr>
          <a:xfrm>
            <a:off x="649224" y="2670048"/>
            <a:ext cx="3694176" cy="164592"/>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IN THE OPERATING ROOM</a:t>
            </a:r>
            <a:endParaRPr lang="en-US" sz="750" dirty="0"/>
          </a:p>
        </p:txBody>
      </p:sp>
      <p:sp>
        <p:nvSpPr>
          <p:cNvPr id="10" name="Text 8"/>
          <p:cNvSpPr/>
          <p:nvPr/>
        </p:nvSpPr>
        <p:spPr>
          <a:xfrm>
            <a:off x="649224" y="2852928"/>
            <a:ext cx="3694176" cy="1554480"/>
          </a:xfrm>
          <a:prstGeom prst="rect">
            <a:avLst/>
          </a:prstGeom>
          <a:noFill/>
          <a:ln/>
        </p:spPr>
        <p:txBody>
          <a:bodyPr wrap="square" rtlCol="0" anchor="t"/>
          <a:lstStyle/>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Blepharoplasty, upper, lower and combined</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Brow lift</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Otoplasty</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Chin augmentation and implant</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Buccal fat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Facial fat grafting and transfer</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Liposuction, single or limited area, awake tumescent</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Submental neck contouring</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Limited body-contouring revision</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Scar revision, facial and body</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Nasal valve procedures sold as elective self-pay</a:t>
            </a:r>
            <a:endParaRPr lang="en-US" sz="700" dirty="0"/>
          </a:p>
        </p:txBody>
      </p:sp>
      <p:sp>
        <p:nvSpPr>
          <p:cNvPr id="11" name="Shape 9"/>
          <p:cNvSpPr/>
          <p:nvPr/>
        </p:nvSpPr>
        <p:spPr>
          <a:xfrm>
            <a:off x="4654296" y="2578608"/>
            <a:ext cx="3986784" cy="1901952"/>
          </a:xfrm>
          <a:prstGeom prst="roundRect">
            <a:avLst>
              <a:gd name="adj" fmla="val 2885"/>
            </a:avLst>
          </a:prstGeom>
          <a:solidFill>
            <a:srgbClr val="16241C"/>
          </a:solidFill>
          <a:ln w="12700">
            <a:solidFill>
              <a:srgbClr val="2E4237"/>
            </a:solidFill>
            <a:prstDash val="solid"/>
          </a:ln>
        </p:spPr>
      </p:sp>
      <p:sp>
        <p:nvSpPr>
          <p:cNvPr id="12" name="Text 10"/>
          <p:cNvSpPr/>
          <p:nvPr/>
        </p:nvSpPr>
        <p:spPr>
          <a:xfrm>
            <a:off x="4800600" y="2670048"/>
            <a:ext cx="3694176" cy="164592"/>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IN THE TREATMENT ROOMS, UNDER LOCAL</a:t>
            </a:r>
            <a:endParaRPr lang="en-US" sz="750" dirty="0"/>
          </a:p>
        </p:txBody>
      </p:sp>
      <p:sp>
        <p:nvSpPr>
          <p:cNvPr id="13" name="Text 11"/>
          <p:cNvSpPr/>
          <p:nvPr/>
        </p:nvSpPr>
        <p:spPr>
          <a:xfrm>
            <a:off x="4800600" y="2852928"/>
            <a:ext cx="3694176" cy="1554480"/>
          </a:xfrm>
          <a:prstGeom prst="rect">
            <a:avLst/>
          </a:prstGeom>
          <a:noFill/>
          <a:ln/>
        </p:spPr>
        <p:txBody>
          <a:bodyPr wrap="square" rtlCol="0" anchor="t"/>
          <a:lstStyle/>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Lipoma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Cyst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Benign lesion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Ablative laser resurfacing</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Skin tightening</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Hair restoration surgery and transplant</a:t>
            </a:r>
            <a:endParaRPr lang="en-US" sz="70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MEMBERSHIP ARCHITECTURE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A ladder, not a gate.</a:t>
            </a:r>
            <a:endParaRPr lang="en-US" sz="2600" dirty="0"/>
          </a:p>
        </p:txBody>
      </p:sp>
      <p:sp>
        <p:nvSpPr>
          <p:cNvPr id="4" name="Shape 2"/>
          <p:cNvSpPr/>
          <p:nvPr/>
        </p:nvSpPr>
        <p:spPr>
          <a:xfrm>
            <a:off x="502920" y="1371600"/>
            <a:ext cx="1924812" cy="3063240"/>
          </a:xfrm>
          <a:prstGeom prst="roundRect">
            <a:avLst>
              <a:gd name="adj" fmla="val 2850"/>
            </a:avLst>
          </a:prstGeom>
          <a:solidFill>
            <a:srgbClr val="16241C"/>
          </a:solidFill>
          <a:ln w="12700">
            <a:solidFill>
              <a:srgbClr val="2E4237"/>
            </a:solidFill>
            <a:prstDash val="solid"/>
          </a:ln>
        </p:spPr>
      </p:sp>
      <p:sp>
        <p:nvSpPr>
          <p:cNvPr id="5" name="Text 3"/>
          <p:cNvSpPr/>
          <p:nvPr/>
        </p:nvSpPr>
        <p:spPr>
          <a:xfrm>
            <a:off x="630936"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Day Pass</a:t>
            </a:r>
            <a:endParaRPr lang="en-US" sz="1150" dirty="0"/>
          </a:p>
        </p:txBody>
      </p:sp>
      <p:sp>
        <p:nvSpPr>
          <p:cNvPr id="6" name="Text 4"/>
          <p:cNvSpPr/>
          <p:nvPr/>
        </p:nvSpPr>
        <p:spPr>
          <a:xfrm>
            <a:off x="630936"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$75</a:t>
            </a:r>
            <a:endParaRPr lang="en-US" sz="1900" dirty="0"/>
          </a:p>
        </p:txBody>
      </p:sp>
      <p:sp>
        <p:nvSpPr>
          <p:cNvPr id="7" name="Text 5"/>
          <p:cNvSpPr/>
          <p:nvPr/>
        </p:nvSpPr>
        <p:spPr>
          <a:xfrm>
            <a:off x="630936"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VISIT</a:t>
            </a:r>
            <a:endParaRPr lang="en-US" sz="750" dirty="0"/>
          </a:p>
        </p:txBody>
      </p:sp>
      <p:sp>
        <p:nvSpPr>
          <p:cNvPr id="8" name="Text 6"/>
          <p:cNvSpPr/>
          <p:nvPr/>
        </p:nvSpPr>
        <p:spPr>
          <a:xfrm>
            <a:off x="630936"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Single circuit visit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Procedures at list price</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No events or lounge privileges</a:t>
            </a:r>
            <a:endParaRPr lang="en-US" sz="800" dirty="0"/>
          </a:p>
        </p:txBody>
      </p:sp>
      <p:sp>
        <p:nvSpPr>
          <p:cNvPr id="9" name="Text 7"/>
          <p:cNvSpPr/>
          <p:nvPr/>
        </p:nvSpPr>
        <p:spPr>
          <a:xfrm>
            <a:off x="630936"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275 visits/mo</a:t>
            </a:r>
            <a:endParaRPr lang="en-US" sz="800" dirty="0"/>
          </a:p>
        </p:txBody>
      </p:sp>
      <p:sp>
        <p:nvSpPr>
          <p:cNvPr id="10" name="Shape 8"/>
          <p:cNvSpPr/>
          <p:nvPr/>
        </p:nvSpPr>
        <p:spPr>
          <a:xfrm>
            <a:off x="2574036" y="1371600"/>
            <a:ext cx="1924812" cy="3063240"/>
          </a:xfrm>
          <a:prstGeom prst="roundRect">
            <a:avLst>
              <a:gd name="adj" fmla="val 2850"/>
            </a:avLst>
          </a:prstGeom>
          <a:solidFill>
            <a:srgbClr val="16241C"/>
          </a:solidFill>
          <a:ln w="12700">
            <a:solidFill>
              <a:srgbClr val="2E4237"/>
            </a:solidFill>
            <a:prstDash val="solid"/>
          </a:ln>
        </p:spPr>
      </p:sp>
      <p:sp>
        <p:nvSpPr>
          <p:cNvPr id="11" name="Text 9"/>
          <p:cNvSpPr/>
          <p:nvPr/>
        </p:nvSpPr>
        <p:spPr>
          <a:xfrm>
            <a:off x="2702052"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Friends of L&amp;K</a:t>
            </a:r>
            <a:endParaRPr lang="en-US" sz="1150" dirty="0"/>
          </a:p>
        </p:txBody>
      </p:sp>
      <p:sp>
        <p:nvSpPr>
          <p:cNvPr id="12" name="Text 10"/>
          <p:cNvSpPr/>
          <p:nvPr/>
        </p:nvSpPr>
        <p:spPr>
          <a:xfrm>
            <a:off x="2702052"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$300</a:t>
            </a:r>
            <a:endParaRPr lang="en-US" sz="1900" dirty="0"/>
          </a:p>
        </p:txBody>
      </p:sp>
      <p:sp>
        <p:nvSpPr>
          <p:cNvPr id="13" name="Text 11"/>
          <p:cNvSpPr/>
          <p:nvPr/>
        </p:nvSpPr>
        <p:spPr>
          <a:xfrm>
            <a:off x="2702052"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YEAR</a:t>
            </a:r>
            <a:endParaRPr lang="en-US" sz="750" dirty="0"/>
          </a:p>
        </p:txBody>
      </p:sp>
      <p:sp>
        <p:nvSpPr>
          <p:cNvPr id="14" name="Text 12"/>
          <p:cNvSpPr/>
          <p:nvPr/>
        </p:nvSpPr>
        <p:spPr>
          <a:xfrm>
            <a:off x="2702052"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pricing on all procedures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Priority booking window</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Invitations to open events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No club or circuit access</a:t>
            </a:r>
            <a:endParaRPr lang="en-US" sz="800" dirty="0"/>
          </a:p>
        </p:txBody>
      </p:sp>
      <p:sp>
        <p:nvSpPr>
          <p:cNvPr id="15" name="Text 13"/>
          <p:cNvSpPr/>
          <p:nvPr/>
        </p:nvSpPr>
        <p:spPr>
          <a:xfrm>
            <a:off x="2702052"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900 members</a:t>
            </a:r>
            <a:endParaRPr lang="en-US" sz="800" dirty="0"/>
          </a:p>
        </p:txBody>
      </p:sp>
      <p:sp>
        <p:nvSpPr>
          <p:cNvPr id="16" name="Shape 14"/>
          <p:cNvSpPr/>
          <p:nvPr/>
        </p:nvSpPr>
        <p:spPr>
          <a:xfrm>
            <a:off x="4645152" y="1371600"/>
            <a:ext cx="1924812" cy="3063240"/>
          </a:xfrm>
          <a:prstGeom prst="roundRect">
            <a:avLst>
              <a:gd name="adj" fmla="val 2850"/>
            </a:avLst>
          </a:prstGeom>
          <a:solidFill>
            <a:srgbClr val="16241C"/>
          </a:solidFill>
          <a:ln w="12700">
            <a:solidFill>
              <a:srgbClr val="2E4237"/>
            </a:solidFill>
            <a:prstDash val="solid"/>
          </a:ln>
        </p:spPr>
      </p:sp>
      <p:sp>
        <p:nvSpPr>
          <p:cNvPr id="17" name="Text 15"/>
          <p:cNvSpPr/>
          <p:nvPr/>
        </p:nvSpPr>
        <p:spPr>
          <a:xfrm>
            <a:off x="4773168"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Resident</a:t>
            </a:r>
            <a:endParaRPr lang="en-US" sz="1150" dirty="0"/>
          </a:p>
        </p:txBody>
      </p:sp>
      <p:sp>
        <p:nvSpPr>
          <p:cNvPr id="18" name="Text 16"/>
          <p:cNvSpPr/>
          <p:nvPr/>
        </p:nvSpPr>
        <p:spPr>
          <a:xfrm>
            <a:off x="4773168"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$450</a:t>
            </a:r>
            <a:endParaRPr lang="en-US" sz="1900" dirty="0"/>
          </a:p>
        </p:txBody>
      </p:sp>
      <p:sp>
        <p:nvSpPr>
          <p:cNvPr id="19" name="Text 17"/>
          <p:cNvSpPr/>
          <p:nvPr/>
        </p:nvSpPr>
        <p:spPr>
          <a:xfrm>
            <a:off x="4773168"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MONTH</a:t>
            </a:r>
            <a:endParaRPr lang="en-US" sz="750" dirty="0"/>
          </a:p>
        </p:txBody>
      </p:sp>
      <p:sp>
        <p:nvSpPr>
          <p:cNvPr id="20" name="Text 18"/>
          <p:cNvSpPr/>
          <p:nvPr/>
        </p:nvSpPr>
        <p:spPr>
          <a:xfrm>
            <a:off x="4773168"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Rolling monthly credit bank</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Unlimited recovery circuit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pricing on all procedures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1 guest pass per month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events</a:t>
            </a:r>
            <a:endParaRPr lang="en-US" sz="800" dirty="0"/>
          </a:p>
        </p:txBody>
      </p:sp>
      <p:sp>
        <p:nvSpPr>
          <p:cNvPr id="21" name="Text 19"/>
          <p:cNvSpPr/>
          <p:nvPr/>
        </p:nvSpPr>
        <p:spPr>
          <a:xfrm>
            <a:off x="4773168"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350 members · capped</a:t>
            </a:r>
            <a:endParaRPr lang="en-US" sz="800" dirty="0"/>
          </a:p>
        </p:txBody>
      </p:sp>
      <p:sp>
        <p:nvSpPr>
          <p:cNvPr id="22" name="Shape 20"/>
          <p:cNvSpPr/>
          <p:nvPr/>
        </p:nvSpPr>
        <p:spPr>
          <a:xfrm>
            <a:off x="6716268" y="1371600"/>
            <a:ext cx="1924812" cy="3063240"/>
          </a:xfrm>
          <a:prstGeom prst="roundRect">
            <a:avLst>
              <a:gd name="adj" fmla="val 2850"/>
            </a:avLst>
          </a:prstGeom>
          <a:solidFill>
            <a:srgbClr val="241C1A"/>
          </a:solidFill>
          <a:ln w="12700">
            <a:solidFill>
              <a:srgbClr val="C08D7C"/>
            </a:solidFill>
            <a:prstDash val="solid"/>
          </a:ln>
        </p:spPr>
      </p:sp>
      <p:sp>
        <p:nvSpPr>
          <p:cNvPr id="23" name="Text 21"/>
          <p:cNvSpPr/>
          <p:nvPr/>
        </p:nvSpPr>
        <p:spPr>
          <a:xfrm>
            <a:off x="6844284"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Longevity</a:t>
            </a:r>
            <a:endParaRPr lang="en-US" sz="1150" dirty="0"/>
          </a:p>
        </p:txBody>
      </p:sp>
      <p:sp>
        <p:nvSpPr>
          <p:cNvPr id="24" name="Text 22"/>
          <p:cNvSpPr/>
          <p:nvPr/>
        </p:nvSpPr>
        <p:spPr>
          <a:xfrm>
            <a:off x="6844284"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$1,250</a:t>
            </a:r>
            <a:endParaRPr lang="en-US" sz="1900" dirty="0"/>
          </a:p>
        </p:txBody>
      </p:sp>
      <p:sp>
        <p:nvSpPr>
          <p:cNvPr id="25" name="Text 23"/>
          <p:cNvSpPr/>
          <p:nvPr/>
        </p:nvSpPr>
        <p:spPr>
          <a:xfrm>
            <a:off x="6844284"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MONTH</a:t>
            </a:r>
            <a:endParaRPr lang="en-US" sz="750" dirty="0"/>
          </a:p>
        </p:txBody>
      </p:sp>
      <p:sp>
        <p:nvSpPr>
          <p:cNvPr id="26" name="Text 24"/>
          <p:cNvSpPr/>
          <p:nvPr/>
        </p:nvSpPr>
        <p:spPr>
          <a:xfrm>
            <a:off x="6844284"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Everything in Resident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Quarterly physician consult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Annual biomarker panel, DEXA and DUTCH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Therapeutic medications included</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4 guest passes per month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Private buyout privileges</a:t>
            </a:r>
            <a:endParaRPr lang="en-US" sz="800" dirty="0"/>
          </a:p>
        </p:txBody>
      </p:sp>
      <p:sp>
        <p:nvSpPr>
          <p:cNvPr id="27" name="Text 25"/>
          <p:cNvSpPr/>
          <p:nvPr/>
        </p:nvSpPr>
        <p:spPr>
          <a:xfrm>
            <a:off x="6844284"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40 members · capped</a:t>
            </a:r>
            <a:endParaRPr lang="en-US" sz="800" dirty="0"/>
          </a:p>
        </p:txBody>
      </p:sp>
      <p:sp>
        <p:nvSpPr>
          <p:cNvPr id="28" name="Text 26"/>
          <p:cNvSpPr/>
          <p:nvPr/>
        </p:nvSpPr>
        <p:spPr>
          <a:xfrm>
            <a:off x="502920" y="4352544"/>
            <a:ext cx="8138160" cy="402336"/>
          </a:xfrm>
          <a:prstGeom prst="rect">
            <a:avLst/>
          </a:prstGeom>
          <a:noFill/>
          <a:ln/>
        </p:spPr>
        <p:txBody>
          <a:bodyPr wrap="square" rtlCol="0" anchor="t"/>
          <a:lstStyle/>
          <a:p>
            <a:pPr indent="0" marL="0">
              <a:lnSpc>
                <a:spcPct val="115000"/>
              </a:lnSpc>
              <a:buNone/>
            </a:pPr>
            <a:r>
              <a:rPr lang="en-US" sz="750" dirty="0">
                <a:solidFill>
                  <a:srgbClr val="6E6A62"/>
                </a:solidFill>
                <a:latin typeface="Calibri" pitchFamily="34" charset="0"/>
                <a:ea typeface="Calibri" pitchFamily="34" charset="-122"/>
                <a:cs typeface="Calibri" pitchFamily="34" charset="-120"/>
              </a:rPr>
              <a:t>A three-month initial commitment followed by month-to-month billing. Credits roll over while membership remains active and expire upon cancellation. Freezes with seven days’ notice. Tier changes available after the initial commitment.</a:t>
            </a:r>
            <a:endParaRPr lang="en-US" sz="750" dirty="0"/>
          </a:p>
        </p:txBody>
      </p:sp>
      <p:sp>
        <p:nvSpPr>
          <p:cNvPr id="29" name="Text 2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30" name="Text 2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BEFORE DOORS OPEN</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Founding Members de-risk the ramp.</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single strongest item in this brief for both an investor and a credit committee: revenue contracted before the business opens.</a:t>
            </a:r>
            <a:endParaRPr lang="en-US" sz="1150" dirty="0"/>
          </a:p>
        </p:txBody>
      </p:sp>
      <p:sp>
        <p:nvSpPr>
          <p:cNvPr id="5" name="Shape 3"/>
          <p:cNvSpPr/>
          <p:nvPr/>
        </p:nvSpPr>
        <p:spPr>
          <a:xfrm>
            <a:off x="502920" y="2194560"/>
            <a:ext cx="2602992" cy="1463040"/>
          </a:xfrm>
          <a:prstGeom prst="roundRect">
            <a:avLst>
              <a:gd name="adj" fmla="val 3750"/>
            </a:avLst>
          </a:prstGeom>
          <a:solidFill>
            <a:srgbClr val="16241C"/>
          </a:solidFill>
          <a:ln w="12700">
            <a:solidFill>
              <a:srgbClr val="2E4237"/>
            </a:solidFill>
            <a:prstDash val="solid"/>
          </a:ln>
        </p:spPr>
      </p:sp>
      <p:sp>
        <p:nvSpPr>
          <p:cNvPr id="6" name="Text 4"/>
          <p:cNvSpPr/>
          <p:nvPr/>
        </p:nvSpPr>
        <p:spPr>
          <a:xfrm>
            <a:off x="649224"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150</a:t>
            </a:r>
            <a:endParaRPr lang="en-US" sz="2000" dirty="0"/>
          </a:p>
        </p:txBody>
      </p:sp>
      <p:sp>
        <p:nvSpPr>
          <p:cNvPr id="7" name="Text 5"/>
          <p:cNvSpPr/>
          <p:nvPr/>
        </p:nvSpPr>
        <p:spPr>
          <a:xfrm>
            <a:off x="649224"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Founding memberships, hard capped and sold during construction.</a:t>
            </a:r>
            <a:endParaRPr lang="en-US" sz="900" dirty="0"/>
          </a:p>
        </p:txBody>
      </p:sp>
      <p:sp>
        <p:nvSpPr>
          <p:cNvPr id="8" name="Shape 6"/>
          <p:cNvSpPr/>
          <p:nvPr/>
        </p:nvSpPr>
        <p:spPr>
          <a:xfrm>
            <a:off x="3270504" y="2194560"/>
            <a:ext cx="2602992" cy="1463040"/>
          </a:xfrm>
          <a:prstGeom prst="roundRect">
            <a:avLst>
              <a:gd name="adj" fmla="val 3750"/>
            </a:avLst>
          </a:prstGeom>
          <a:solidFill>
            <a:srgbClr val="241C1A"/>
          </a:solidFill>
          <a:ln w="12700">
            <a:solidFill>
              <a:srgbClr val="C08D7C"/>
            </a:solidFill>
            <a:prstDash val="solid"/>
          </a:ln>
        </p:spPr>
      </p:sp>
      <p:sp>
        <p:nvSpPr>
          <p:cNvPr id="9" name="Text 7"/>
          <p:cNvSpPr/>
          <p:nvPr/>
        </p:nvSpPr>
        <p:spPr>
          <a:xfrm>
            <a:off x="3416808"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$3,600</a:t>
            </a:r>
            <a:endParaRPr lang="en-US" sz="2000" dirty="0"/>
          </a:p>
        </p:txBody>
      </p:sp>
      <p:sp>
        <p:nvSpPr>
          <p:cNvPr id="10" name="Text 8"/>
          <p:cNvSpPr/>
          <p:nvPr/>
        </p:nvSpPr>
        <p:spPr>
          <a:xfrm>
            <a:off x="3416808"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Prepaid for the first year, a 33% discount against list.</a:t>
            </a:r>
            <a:endParaRPr lang="en-US" sz="900" dirty="0"/>
          </a:p>
        </p:txBody>
      </p:sp>
      <p:sp>
        <p:nvSpPr>
          <p:cNvPr id="11" name="Shape 9"/>
          <p:cNvSpPr/>
          <p:nvPr/>
        </p:nvSpPr>
        <p:spPr>
          <a:xfrm>
            <a:off x="6038088" y="2194560"/>
            <a:ext cx="2602992" cy="1463040"/>
          </a:xfrm>
          <a:prstGeom prst="roundRect">
            <a:avLst>
              <a:gd name="adj" fmla="val 3750"/>
            </a:avLst>
          </a:prstGeom>
          <a:solidFill>
            <a:srgbClr val="241C1A"/>
          </a:solidFill>
          <a:ln w="12700">
            <a:solidFill>
              <a:srgbClr val="C08D7C"/>
            </a:solidFill>
            <a:prstDash val="solid"/>
          </a:ln>
        </p:spPr>
      </p:sp>
      <p:sp>
        <p:nvSpPr>
          <p:cNvPr id="12" name="Text 10"/>
          <p:cNvSpPr/>
          <p:nvPr/>
        </p:nvSpPr>
        <p:spPr>
          <a:xfrm>
            <a:off x="6184392"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$540,000</a:t>
            </a:r>
            <a:endParaRPr lang="en-US" sz="2000" dirty="0"/>
          </a:p>
        </p:txBody>
      </p:sp>
      <p:sp>
        <p:nvSpPr>
          <p:cNvPr id="13" name="Text 11"/>
          <p:cNvSpPr/>
          <p:nvPr/>
        </p:nvSpPr>
        <p:spPr>
          <a:xfrm>
            <a:off x="6184392"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Collected before opening, offsetting the construction-period burn.</a:t>
            </a:r>
            <a:endParaRPr lang="en-US" sz="900" dirty="0"/>
          </a:p>
        </p:txBody>
      </p:sp>
      <p:sp>
        <p:nvSpPr>
          <p:cNvPr id="14" name="Text 12"/>
          <p:cNvSpPr/>
          <p:nvPr/>
        </p:nvSpPr>
        <p:spPr>
          <a:xfrm>
            <a:off x="502920" y="3840480"/>
            <a:ext cx="8138160" cy="548640"/>
          </a:xfrm>
          <a:prstGeom prst="rect">
            <a:avLst/>
          </a:prstGeom>
          <a:noFill/>
          <a:ln/>
        </p:spPr>
        <p:txBody>
          <a:bodyPr wrap="square" rtlCol="0" anchor="ctr"/>
          <a:lstStyle/>
          <a:p>
            <a:pPr indent="0" marL="0">
              <a:lnSpc>
                <a:spcPct val="125000"/>
              </a:lnSpc>
              <a:buNone/>
            </a:pPr>
            <a:r>
              <a:rPr lang="en-US" sz="1050" dirty="0">
                <a:solidFill>
                  <a:srgbClr val="A8A296"/>
                </a:solidFill>
                <a:latin typeface="Calibri" pitchFamily="34" charset="0"/>
                <a:ea typeface="Calibri" pitchFamily="34" charset="-122"/>
                <a:cs typeface="Calibri" pitchFamily="34" charset="-120"/>
              </a:rPr>
              <a:t>This converts the opening ramp from a projection into a partially pre-sold book. It is also the cheapest possible market test: if the founding cohort does not sell, that is a signal worth having before the buildout is committed rather than after.</a:t>
            </a:r>
            <a:endParaRPr lang="en-US" sz="105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HOW THE LADDER FILLS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open clinic is the top of the funnel.</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Because anyone can book a procedure without joining, every non-member treatment is a paid introduction. The conversion path runs in one direction and each step is cheap to take.</a:t>
            </a:r>
            <a:endParaRPr lang="en-US" sz="1150" dirty="0"/>
          </a:p>
        </p:txBody>
      </p:sp>
      <p:sp>
        <p:nvSpPr>
          <p:cNvPr id="5" name="Shape 3"/>
          <p:cNvSpPr/>
          <p:nvPr/>
        </p:nvSpPr>
        <p:spPr>
          <a:xfrm>
            <a:off x="502920" y="2103120"/>
            <a:ext cx="1924812" cy="2103120"/>
          </a:xfrm>
          <a:prstGeom prst="roundRect">
            <a:avLst>
              <a:gd name="adj" fmla="val 2850"/>
            </a:avLst>
          </a:prstGeom>
          <a:solidFill>
            <a:srgbClr val="16241C"/>
          </a:solidFill>
          <a:ln w="12700">
            <a:solidFill>
              <a:srgbClr val="2E4237"/>
            </a:solidFill>
            <a:prstDash val="solid"/>
          </a:ln>
        </p:spPr>
      </p:sp>
      <p:sp>
        <p:nvSpPr>
          <p:cNvPr id="6" name="Text 4"/>
          <p:cNvSpPr/>
          <p:nvPr/>
        </p:nvSpPr>
        <p:spPr>
          <a:xfrm>
            <a:off x="630936" y="2231136"/>
            <a:ext cx="1668780" cy="182880"/>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STEP ONE</a:t>
            </a:r>
            <a:endParaRPr lang="en-US" sz="750" dirty="0"/>
          </a:p>
        </p:txBody>
      </p:sp>
      <p:sp>
        <p:nvSpPr>
          <p:cNvPr id="7" name="Text 5"/>
          <p:cNvSpPr/>
          <p:nvPr/>
        </p:nvSpPr>
        <p:spPr>
          <a:xfrm>
            <a:off x="630936" y="2432304"/>
            <a:ext cx="1668780" cy="457200"/>
          </a:xfrm>
          <a:prstGeom prst="rect">
            <a:avLst/>
          </a:prstGeom>
          <a:noFill/>
          <a:ln/>
        </p:spPr>
        <p:txBody>
          <a:bodyPr wrap="square" rtlCol="0" anchor="t"/>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Walks in</a:t>
            </a:r>
            <a:endParaRPr lang="en-US" sz="1300" dirty="0"/>
          </a:p>
        </p:txBody>
      </p:sp>
      <p:sp>
        <p:nvSpPr>
          <p:cNvPr id="8" name="Text 6"/>
          <p:cNvSpPr/>
          <p:nvPr/>
        </p:nvSpPr>
        <p:spPr>
          <a:xfrm>
            <a:off x="630936" y="2889504"/>
            <a:ext cx="1668780" cy="118872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Books a procedure or buys a day pass. Pays list price. Owes nothing further.</a:t>
            </a:r>
            <a:endParaRPr lang="en-US" sz="850" dirty="0"/>
          </a:p>
        </p:txBody>
      </p:sp>
      <p:sp>
        <p:nvSpPr>
          <p:cNvPr id="9" name="Shape 7"/>
          <p:cNvSpPr/>
          <p:nvPr/>
        </p:nvSpPr>
        <p:spPr>
          <a:xfrm>
            <a:off x="2574036" y="2103120"/>
            <a:ext cx="1924812" cy="2103120"/>
          </a:xfrm>
          <a:prstGeom prst="roundRect">
            <a:avLst>
              <a:gd name="adj" fmla="val 2850"/>
            </a:avLst>
          </a:prstGeom>
          <a:solidFill>
            <a:srgbClr val="16241C"/>
          </a:solidFill>
          <a:ln w="12700">
            <a:solidFill>
              <a:srgbClr val="2E4237"/>
            </a:solidFill>
            <a:prstDash val="solid"/>
          </a:ln>
        </p:spPr>
      </p:sp>
      <p:sp>
        <p:nvSpPr>
          <p:cNvPr id="10" name="Text 8"/>
          <p:cNvSpPr/>
          <p:nvPr/>
        </p:nvSpPr>
        <p:spPr>
          <a:xfrm>
            <a:off x="2702052" y="2231136"/>
            <a:ext cx="1668780" cy="182880"/>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STEP TWO</a:t>
            </a:r>
            <a:endParaRPr lang="en-US" sz="750" dirty="0"/>
          </a:p>
        </p:txBody>
      </p:sp>
      <p:sp>
        <p:nvSpPr>
          <p:cNvPr id="11" name="Text 9"/>
          <p:cNvSpPr/>
          <p:nvPr/>
        </p:nvSpPr>
        <p:spPr>
          <a:xfrm>
            <a:off x="2702052" y="2432304"/>
            <a:ext cx="1668780" cy="457200"/>
          </a:xfrm>
          <a:prstGeom prst="rect">
            <a:avLst/>
          </a:prstGeom>
          <a:noFill/>
          <a:ln/>
        </p:spPr>
        <p:txBody>
          <a:bodyPr wrap="square" rtlCol="0" anchor="t"/>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Becomes a Friend</a:t>
            </a:r>
            <a:endParaRPr lang="en-US" sz="1300" dirty="0"/>
          </a:p>
        </p:txBody>
      </p:sp>
      <p:sp>
        <p:nvSpPr>
          <p:cNvPr id="12" name="Text 10"/>
          <p:cNvSpPr/>
          <p:nvPr/>
        </p:nvSpPr>
        <p:spPr>
          <a:xfrm>
            <a:off x="2702052" y="2889504"/>
            <a:ext cx="1668780" cy="118872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$300 a year pays for itself on roughly two procedures. Low friction, high volume, and it captures the database.</a:t>
            </a:r>
            <a:endParaRPr lang="en-US" sz="850" dirty="0"/>
          </a:p>
        </p:txBody>
      </p:sp>
      <p:sp>
        <p:nvSpPr>
          <p:cNvPr id="13" name="Shape 11"/>
          <p:cNvSpPr/>
          <p:nvPr/>
        </p:nvSpPr>
        <p:spPr>
          <a:xfrm>
            <a:off x="4645152" y="2103120"/>
            <a:ext cx="1924812" cy="2103120"/>
          </a:xfrm>
          <a:prstGeom prst="roundRect">
            <a:avLst>
              <a:gd name="adj" fmla="val 2850"/>
            </a:avLst>
          </a:prstGeom>
          <a:solidFill>
            <a:srgbClr val="16241C"/>
          </a:solidFill>
          <a:ln w="12700">
            <a:solidFill>
              <a:srgbClr val="2E4237"/>
            </a:solidFill>
            <a:prstDash val="solid"/>
          </a:ln>
        </p:spPr>
      </p:sp>
      <p:sp>
        <p:nvSpPr>
          <p:cNvPr id="14" name="Text 12"/>
          <p:cNvSpPr/>
          <p:nvPr/>
        </p:nvSpPr>
        <p:spPr>
          <a:xfrm>
            <a:off x="4773168" y="2231136"/>
            <a:ext cx="1668780" cy="182880"/>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STEP THREE</a:t>
            </a:r>
            <a:endParaRPr lang="en-US" sz="750" dirty="0"/>
          </a:p>
        </p:txBody>
      </p:sp>
      <p:sp>
        <p:nvSpPr>
          <p:cNvPr id="15" name="Text 13"/>
          <p:cNvSpPr/>
          <p:nvPr/>
        </p:nvSpPr>
        <p:spPr>
          <a:xfrm>
            <a:off x="4773168" y="2432304"/>
            <a:ext cx="1668780" cy="457200"/>
          </a:xfrm>
          <a:prstGeom prst="rect">
            <a:avLst/>
          </a:prstGeom>
          <a:noFill/>
          <a:ln/>
        </p:spPr>
        <p:txBody>
          <a:bodyPr wrap="square" rtlCol="0" anchor="t"/>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Becomes a Resident</a:t>
            </a:r>
            <a:endParaRPr lang="en-US" sz="1300" dirty="0"/>
          </a:p>
        </p:txBody>
      </p:sp>
      <p:sp>
        <p:nvSpPr>
          <p:cNvPr id="16" name="Text 14"/>
          <p:cNvSpPr/>
          <p:nvPr/>
        </p:nvSpPr>
        <p:spPr>
          <a:xfrm>
            <a:off x="4773168" y="2889504"/>
            <a:ext cx="1668780" cy="118872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Wants the circuit and the room, not just the treatment. This is where recurring revenue begins.</a:t>
            </a:r>
            <a:endParaRPr lang="en-US" sz="850" dirty="0"/>
          </a:p>
        </p:txBody>
      </p:sp>
      <p:sp>
        <p:nvSpPr>
          <p:cNvPr id="17" name="Shape 15"/>
          <p:cNvSpPr/>
          <p:nvPr/>
        </p:nvSpPr>
        <p:spPr>
          <a:xfrm>
            <a:off x="6716268" y="2103120"/>
            <a:ext cx="1924812" cy="2103120"/>
          </a:xfrm>
          <a:prstGeom prst="roundRect">
            <a:avLst>
              <a:gd name="adj" fmla="val 2850"/>
            </a:avLst>
          </a:prstGeom>
          <a:solidFill>
            <a:srgbClr val="241C1A"/>
          </a:solidFill>
          <a:ln w="12700">
            <a:solidFill>
              <a:srgbClr val="C08D7C"/>
            </a:solidFill>
            <a:prstDash val="solid"/>
          </a:ln>
        </p:spPr>
      </p:sp>
      <p:sp>
        <p:nvSpPr>
          <p:cNvPr id="18" name="Text 16"/>
          <p:cNvSpPr/>
          <p:nvPr/>
        </p:nvSpPr>
        <p:spPr>
          <a:xfrm>
            <a:off x="6844284" y="2231136"/>
            <a:ext cx="1668780" cy="182880"/>
          </a:xfrm>
          <a:prstGeom prst="rect">
            <a:avLst/>
          </a:prstGeom>
          <a:noFill/>
          <a:ln/>
        </p:spPr>
        <p:txBody>
          <a:bodyPr wrap="square" rtlCol="0" anchor="ctr"/>
          <a:lstStyle/>
          <a:p>
            <a:pPr indent="0" marL="0">
              <a:buNone/>
            </a:pPr>
            <a:r>
              <a:rPr lang="en-US" sz="750" spc="140" kern="0" dirty="0">
                <a:solidFill>
                  <a:srgbClr val="C08D7C"/>
                </a:solidFill>
                <a:latin typeface="Century Gothic" pitchFamily="34" charset="0"/>
                <a:ea typeface="Century Gothic" pitchFamily="34" charset="-122"/>
                <a:cs typeface="Century Gothic" pitchFamily="34" charset="-120"/>
              </a:rPr>
              <a:t>STEP FOUR</a:t>
            </a:r>
            <a:endParaRPr lang="en-US" sz="750" dirty="0"/>
          </a:p>
        </p:txBody>
      </p:sp>
      <p:sp>
        <p:nvSpPr>
          <p:cNvPr id="19" name="Text 17"/>
          <p:cNvSpPr/>
          <p:nvPr/>
        </p:nvSpPr>
        <p:spPr>
          <a:xfrm>
            <a:off x="6844284" y="2432304"/>
            <a:ext cx="1668780" cy="457200"/>
          </a:xfrm>
          <a:prstGeom prst="rect">
            <a:avLst/>
          </a:prstGeom>
          <a:noFill/>
          <a:ln/>
        </p:spPr>
        <p:txBody>
          <a:bodyPr wrap="square" rtlCol="0" anchor="t"/>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Becomes Longevity</a:t>
            </a:r>
            <a:endParaRPr lang="en-US" sz="1300" dirty="0"/>
          </a:p>
        </p:txBody>
      </p:sp>
      <p:sp>
        <p:nvSpPr>
          <p:cNvPr id="20" name="Text 18"/>
          <p:cNvSpPr/>
          <p:nvPr/>
        </p:nvSpPr>
        <p:spPr>
          <a:xfrm>
            <a:off x="6844284" y="2889504"/>
            <a:ext cx="1668780" cy="118872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Physician-delivered programming. Hard capped. The highest retention and the highest lifetime value in the building.</a:t>
            </a:r>
            <a:endParaRPr lang="en-US" sz="850" dirty="0"/>
          </a:p>
        </p:txBody>
      </p:sp>
      <p:sp>
        <p:nvSpPr>
          <p:cNvPr id="21" name="Text 19"/>
          <p:cNvSpPr/>
          <p:nvPr/>
        </p:nvSpPr>
        <p:spPr>
          <a:xfrm>
            <a:off x="2409444" y="3017520"/>
            <a:ext cx="182880" cy="274320"/>
          </a:xfrm>
          <a:prstGeom prst="rect">
            <a:avLst/>
          </a:prstGeom>
          <a:noFill/>
          <a:ln/>
        </p:spPr>
        <p:txBody>
          <a:bodyPr wrap="square" rtlCol="0" anchor="ctr"/>
          <a:lstStyle/>
          <a:p>
            <a:pPr algn="ctr" indent="0" marL="0">
              <a:buNone/>
            </a:pPr>
            <a:r>
              <a:rPr lang="en-US" sz="1300" dirty="0">
                <a:solidFill>
                  <a:srgbClr val="2E4237"/>
                </a:solidFill>
                <a:latin typeface="Century Gothic" pitchFamily="34" charset="0"/>
                <a:ea typeface="Century Gothic" pitchFamily="34" charset="-122"/>
                <a:cs typeface="Century Gothic" pitchFamily="34" charset="-120"/>
              </a:rPr>
              <a:t>›</a:t>
            </a:r>
            <a:endParaRPr lang="en-US" sz="1300" dirty="0"/>
          </a:p>
        </p:txBody>
      </p:sp>
      <p:sp>
        <p:nvSpPr>
          <p:cNvPr id="22" name="Text 20"/>
          <p:cNvSpPr/>
          <p:nvPr/>
        </p:nvSpPr>
        <p:spPr>
          <a:xfrm>
            <a:off x="4480560" y="3017520"/>
            <a:ext cx="182880" cy="274320"/>
          </a:xfrm>
          <a:prstGeom prst="rect">
            <a:avLst/>
          </a:prstGeom>
          <a:noFill/>
          <a:ln/>
        </p:spPr>
        <p:txBody>
          <a:bodyPr wrap="square" rtlCol="0" anchor="ctr"/>
          <a:lstStyle/>
          <a:p>
            <a:pPr algn="ctr" indent="0" marL="0">
              <a:buNone/>
            </a:pPr>
            <a:r>
              <a:rPr lang="en-US" sz="1300" dirty="0">
                <a:solidFill>
                  <a:srgbClr val="2E4237"/>
                </a:solidFill>
                <a:latin typeface="Century Gothic" pitchFamily="34" charset="0"/>
                <a:ea typeface="Century Gothic" pitchFamily="34" charset="-122"/>
                <a:cs typeface="Century Gothic" pitchFamily="34" charset="-120"/>
              </a:rPr>
              <a:t>›</a:t>
            </a:r>
            <a:endParaRPr lang="en-US" sz="1300" dirty="0"/>
          </a:p>
        </p:txBody>
      </p:sp>
      <p:sp>
        <p:nvSpPr>
          <p:cNvPr id="23" name="Text 21"/>
          <p:cNvSpPr/>
          <p:nvPr/>
        </p:nvSpPr>
        <p:spPr>
          <a:xfrm>
            <a:off x="6551676" y="3017520"/>
            <a:ext cx="182880" cy="274320"/>
          </a:xfrm>
          <a:prstGeom prst="rect">
            <a:avLst/>
          </a:prstGeom>
          <a:noFill/>
          <a:ln/>
        </p:spPr>
        <p:txBody>
          <a:bodyPr wrap="square" rtlCol="0" anchor="ctr"/>
          <a:lstStyle/>
          <a:p>
            <a:pPr algn="ctr" indent="0" marL="0">
              <a:buNone/>
            </a:pPr>
            <a:r>
              <a:rPr lang="en-US" sz="1300" dirty="0">
                <a:solidFill>
                  <a:srgbClr val="2E4237"/>
                </a:solidFill>
                <a:latin typeface="Century Gothic" pitchFamily="34" charset="0"/>
                <a:ea typeface="Century Gothic" pitchFamily="34" charset="-122"/>
                <a:cs typeface="Century Gothic" pitchFamily="34" charset="-120"/>
              </a:rPr>
              <a:t>›</a:t>
            </a:r>
            <a:endParaRPr lang="en-US" sz="1300" dirty="0"/>
          </a:p>
        </p:txBody>
      </p:sp>
      <p:sp>
        <p:nvSpPr>
          <p:cNvPr id="24" name="Text 2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25" name="Text 2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FACILITY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5,825 SF in Playa Vista.</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Everything in the ample case, plus one accredited office-based surgery suite.</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3931920" cy="914400"/>
        </p:xfrm>
        <a:graphic>
          <a:graphicData uri="http://schemas.openxmlformats.org/drawingml/2006/table">
            <a:tbl>
              <a:tblPr/>
              <a:tblGrid>
                <a:gridCol w="3017520"/>
                <a:gridCol w="914400"/>
              </a:tblGrid>
              <a:tr h="21488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Space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SF</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Arrival, concierge, retail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The Lounge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700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Contrast suite (2 saunas, 2 plunges)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Aescape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Ammortal chamber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Hyperbaric room (seated)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Red light beds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and regenerative lounge (8 chairs)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Treatment rooms (3)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Diagnostics and consult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 imaging (GE iDXA densitometer)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Operating room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Pre-op and PACU (3 monitored bays)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4754880" y="1481328"/>
          <a:ext cx="3520440" cy="914400"/>
        </p:xfrm>
        <a:graphic>
          <a:graphicData uri="http://schemas.openxmlformats.org/drawingml/2006/table">
            <a:tbl>
              <a:tblPr/>
              <a:tblGrid>
                <a:gridCol w="2651760"/>
                <a:gridCol w="868680"/>
              </a:tblGrid>
              <a:tr h="21488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Space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SF</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Sterile processing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Sterile supply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Soiled utility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Surgical suite circulation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Locker, shower, changing, bathrooms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Admin offices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Kitchen and breakroom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Storage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MEP</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Biohazard and linen closets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Circulation and grossing factor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890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5,825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7"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8"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FACILITY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Stations and equipment.</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What sits in the 5,825 square feet, and how it is paid for.</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3931920" cy="914400"/>
        </p:xfrm>
        <a:graphic>
          <a:graphicData uri="http://schemas.openxmlformats.org/drawingml/2006/table">
            <a:tbl>
              <a:tblPr/>
              <a:tblGrid>
                <a:gridCol w="3017520"/>
                <a:gridCol w="91440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Stations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Count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Treatment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 regenerative chairs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Saunas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Cold plunges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Aescape robotic massage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Ammortal chambers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754880" y="1645920"/>
          <a:ext cx="3520440" cy="914400"/>
        </p:xfrm>
        <a:graphic>
          <a:graphicData uri="http://schemas.openxmlformats.org/drawingml/2006/table">
            <a:tbl>
              <a:tblPr/>
              <a:tblGrid>
                <a:gridCol w="2606040"/>
                <a:gridCol w="91440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Stations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Count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Hyperbaric chambers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Redlight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 / consult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DEXA scan room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Recovery stations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7" name="Shape 3"/>
          <p:cNvSpPr/>
          <p:nvPr/>
        </p:nvSpPr>
        <p:spPr>
          <a:xfrm>
            <a:off x="502920" y="3456432"/>
            <a:ext cx="8138160" cy="1024128"/>
          </a:xfrm>
          <a:prstGeom prst="roundRect">
            <a:avLst>
              <a:gd name="adj" fmla="val 5357"/>
            </a:avLst>
          </a:prstGeom>
          <a:solidFill>
            <a:srgbClr val="16241C"/>
          </a:solidFill>
          <a:ln w="12700">
            <a:solidFill>
              <a:srgbClr val="2E4237"/>
            </a:solidFill>
            <a:prstDash val="solid"/>
          </a:ln>
        </p:spPr>
      </p:sp>
      <p:sp>
        <p:nvSpPr>
          <p:cNvPr id="8" name="Text 4"/>
          <p:cNvSpPr/>
          <p:nvPr/>
        </p:nvSpPr>
        <p:spPr>
          <a:xfrm>
            <a:off x="649224" y="3566160"/>
            <a:ext cx="7845552" cy="182880"/>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EQUIPMENT STRATEGY</a:t>
            </a:r>
            <a:endParaRPr lang="en-US" sz="750" dirty="0"/>
          </a:p>
        </p:txBody>
      </p:sp>
      <p:sp>
        <p:nvSpPr>
          <p:cNvPr id="9" name="Text 5"/>
          <p:cNvSpPr/>
          <p:nvPr/>
        </p:nvSpPr>
        <p:spPr>
          <a:xfrm>
            <a:off x="649224" y="3767328"/>
            <a:ext cx="7845552" cy="640080"/>
          </a:xfrm>
          <a:prstGeom prst="rect">
            <a:avLst/>
          </a:prstGeom>
          <a:noFill/>
          <a:ln/>
        </p:spPr>
        <p:txBody>
          <a:bodyPr wrap="square" rtlCol="0" anchor="t"/>
          <a:lstStyle/>
          <a:p>
            <a:pPr indent="0" marL="0">
              <a:lnSpc>
                <a:spcPct val="120000"/>
              </a:lnSpc>
              <a:buNone/>
            </a:pPr>
            <a:r>
              <a:rPr lang="en-US" sz="900" dirty="0">
                <a:solidFill>
                  <a:srgbClr val="A8A296"/>
                </a:solidFill>
                <a:latin typeface="Calibri" pitchFamily="34" charset="0"/>
                <a:ea typeface="Calibri" pitchFamily="34" charset="-122"/>
                <a:cs typeface="Calibri" pitchFamily="34" charset="-120"/>
              </a:rPr>
              <a:t>Purchased where payback justifies it, surgical equipment part leased. Wet areas drive cost, plunges, saunas and steam carry a materially higher per-SF buildout than a dry medspa, which is why the lean case trims the contrast suite before it trims treatment rooms.</a:t>
            </a:r>
            <a:endParaRPr lang="en-US" sz="900" dirty="0"/>
          </a:p>
        </p:txBody>
      </p:sp>
      <p:sp>
        <p:nvSpPr>
          <p:cNvPr id="10"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11"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CAPACITY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Enough capacity for what is sold.</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Built bottom-up from station hours, not assumed. The circuit bottleneck is the cold plunge, not the sauna; the clinical bottleneck is treatment rooms.</a:t>
            </a:r>
            <a:endParaRPr lang="en-US" sz="1150" dirty="0"/>
          </a:p>
        </p:txBody>
      </p:sp>
      <p:sp>
        <p:nvSpPr>
          <p:cNvPr id="5" name="Shape 3"/>
          <p:cNvSpPr/>
          <p:nvPr/>
        </p:nvSpPr>
        <p:spPr>
          <a:xfrm>
            <a:off x="502920" y="2240280"/>
            <a:ext cx="2602992" cy="1554480"/>
          </a:xfrm>
          <a:prstGeom prst="roundRect">
            <a:avLst>
              <a:gd name="adj" fmla="val 3529"/>
            </a:avLst>
          </a:prstGeom>
          <a:solidFill>
            <a:srgbClr val="241C1A"/>
          </a:solidFill>
          <a:ln w="12700">
            <a:solidFill>
              <a:srgbClr val="C08D7C"/>
            </a:solidFill>
            <a:prstDash val="solid"/>
          </a:ln>
        </p:spPr>
      </p:sp>
      <p:sp>
        <p:nvSpPr>
          <p:cNvPr id="6" name="Text 4"/>
          <p:cNvSpPr/>
          <p:nvPr/>
        </p:nvSpPr>
        <p:spPr>
          <a:xfrm>
            <a:off x="649224" y="236829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73%</a:t>
            </a:r>
            <a:endParaRPr lang="en-US" sz="2000" dirty="0"/>
          </a:p>
        </p:txBody>
      </p:sp>
      <p:sp>
        <p:nvSpPr>
          <p:cNvPr id="7" name="Text 5"/>
          <p:cNvSpPr/>
          <p:nvPr/>
        </p:nvSpPr>
        <p:spPr>
          <a:xfrm>
            <a:off x="649224" y="280720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Recovery circuit utilization. 2,345 modeled visits against 3,192 practical capacity, leaving 847 visits of headroom.</a:t>
            </a:r>
            <a:endParaRPr lang="en-US" sz="900" dirty="0"/>
          </a:p>
        </p:txBody>
      </p:sp>
      <p:sp>
        <p:nvSpPr>
          <p:cNvPr id="8" name="Shape 6"/>
          <p:cNvSpPr/>
          <p:nvPr/>
        </p:nvSpPr>
        <p:spPr>
          <a:xfrm>
            <a:off x="3270504" y="2240280"/>
            <a:ext cx="2602992" cy="1554480"/>
          </a:xfrm>
          <a:prstGeom prst="roundRect">
            <a:avLst>
              <a:gd name="adj" fmla="val 3529"/>
            </a:avLst>
          </a:prstGeom>
          <a:solidFill>
            <a:srgbClr val="241C1A"/>
          </a:solidFill>
          <a:ln w="12700">
            <a:solidFill>
              <a:srgbClr val="C08D7C"/>
            </a:solidFill>
            <a:prstDash val="solid"/>
          </a:ln>
        </p:spPr>
      </p:sp>
      <p:sp>
        <p:nvSpPr>
          <p:cNvPr id="9" name="Text 7"/>
          <p:cNvSpPr/>
          <p:nvPr/>
        </p:nvSpPr>
        <p:spPr>
          <a:xfrm>
            <a:off x="3416808" y="236829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87%</a:t>
            </a:r>
            <a:endParaRPr lang="en-US" sz="2000" dirty="0"/>
          </a:p>
        </p:txBody>
      </p:sp>
      <p:sp>
        <p:nvSpPr>
          <p:cNvPr id="10" name="Text 8"/>
          <p:cNvSpPr/>
          <p:nvPr/>
        </p:nvSpPr>
        <p:spPr>
          <a:xfrm>
            <a:off x="3416808" y="280720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Treatment room utilization. 439 procedures against 507 practical capacity, leaving 68 slots of headroom.</a:t>
            </a:r>
            <a:endParaRPr lang="en-US" sz="900" dirty="0"/>
          </a:p>
        </p:txBody>
      </p:sp>
      <p:sp>
        <p:nvSpPr>
          <p:cNvPr id="11" name="Shape 9"/>
          <p:cNvSpPr/>
          <p:nvPr/>
        </p:nvSpPr>
        <p:spPr>
          <a:xfrm>
            <a:off x="6038088" y="2240280"/>
            <a:ext cx="2602992" cy="1554480"/>
          </a:xfrm>
          <a:prstGeom prst="roundRect">
            <a:avLst>
              <a:gd name="adj" fmla="val 3529"/>
            </a:avLst>
          </a:prstGeom>
          <a:solidFill>
            <a:srgbClr val="241C1A"/>
          </a:solidFill>
          <a:ln w="12700">
            <a:solidFill>
              <a:srgbClr val="C08D7C"/>
            </a:solidFill>
            <a:prstDash val="solid"/>
          </a:ln>
        </p:spPr>
      </p:sp>
      <p:sp>
        <p:nvSpPr>
          <p:cNvPr id="12" name="Text 10"/>
          <p:cNvSpPr/>
          <p:nvPr/>
        </p:nvSpPr>
        <p:spPr>
          <a:xfrm>
            <a:off x="6184392" y="236829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61%</a:t>
            </a:r>
            <a:endParaRPr lang="en-US" sz="2000" dirty="0"/>
          </a:p>
        </p:txBody>
      </p:sp>
      <p:sp>
        <p:nvSpPr>
          <p:cNvPr id="13" name="Text 11"/>
          <p:cNvSpPr/>
          <p:nvPr/>
        </p:nvSpPr>
        <p:spPr>
          <a:xfrm>
            <a:off x="6184392" y="280720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Operating room utilization. 22 cases needing 38.5 hours against 63 practical hours across nine block days, leaving 24.5 hours of headroom.</a:t>
            </a:r>
            <a:endParaRPr lang="en-US" sz="900" dirty="0"/>
          </a:p>
        </p:txBody>
      </p:sp>
      <p:sp>
        <p:nvSpPr>
          <p:cNvPr id="14" name="Text 12"/>
          <p:cNvSpPr/>
          <p:nvPr/>
        </p:nvSpPr>
        <p:spPr>
          <a:xfrm>
            <a:off x="502920" y="3977640"/>
            <a:ext cx="8138160" cy="457200"/>
          </a:xfrm>
          <a:prstGeom prst="rect">
            <a:avLst/>
          </a:prstGeom>
          <a:noFill/>
          <a:ln/>
        </p:spPr>
        <p:txBody>
          <a:bodyPr wrap="square" rtlCol="0" anchor="ctr"/>
          <a:lstStyle/>
          <a:p>
            <a:pPr indent="0" marL="0">
              <a:lnSpc>
                <a:spcPct val="120000"/>
              </a:lnSpc>
              <a:buNone/>
            </a:pPr>
            <a:r>
              <a:rPr lang="en-US" sz="1000" dirty="0">
                <a:solidFill>
                  <a:srgbClr val="6E6A62"/>
                </a:solidFill>
                <a:latin typeface="Calibri" pitchFamily="34" charset="0"/>
                <a:ea typeface="Calibri" pitchFamily="34" charset="-122"/>
                <a:cs typeface="Calibri" pitchFamily="34" charset="-120"/>
              </a:rPr>
              <a:t>Practical capacity applies a utilization ceiling to theoretical station hours, because demand concentrates at peak times and nothing runs flat out. Headroom is the growth the facility can absorb without further capital.</a:t>
            </a:r>
            <a:endParaRPr lang="en-US" sz="100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MARKET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A large, fast, cash-pay category.</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Every figure carries its source. Anything we could not source was cut rather than estimated.</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8138160" cy="914400"/>
        </p:xfrm>
        <a:graphic>
          <a:graphicData uri="http://schemas.openxmlformats.org/drawingml/2006/table">
            <a:tbl>
              <a:tblPr/>
              <a:tblGrid>
                <a:gridCol w="4206240"/>
                <a:gridCol w="1371600"/>
                <a:gridCol w="256032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Figure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Value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Source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wellness economy, 2024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$6.8T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Wellness Institute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medical spa market, 2026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$27.8B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Grand View Research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medical spas, 2023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10,488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Grand View Research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consumers calling wellness a top or important priority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McKinsey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concierge medicine market by 2034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$19.4B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Cited in Patientfy longevity market map</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adults currently taking a GLP-1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 in 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KFF</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Longevity retreats market, 2026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$11.1B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Research and Markets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MARKET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Silicon Beach, at its densest.</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Playa Vista is a master-planned innovation district on the old Hughes Aircraft site, and it has become the centre of gravity for the Westside’s technology, media, advertising and creator economy. Google, YouTube and Meta campuses sit within a walk of one another. LAX is four miles south, the studios fifteen minutes north, and the district was designed to be walked rather than driven.</a:t>
            </a:r>
            <a:endParaRPr lang="en-US" sz="1150" dirty="0"/>
          </a:p>
        </p:txBody>
      </p:sp>
      <p:sp>
        <p:nvSpPr>
          <p:cNvPr id="5" name="Shape 3"/>
          <p:cNvSpPr/>
          <p:nvPr/>
        </p:nvSpPr>
        <p:spPr>
          <a:xfrm>
            <a:off x="502920" y="2286000"/>
            <a:ext cx="2602992" cy="1554480"/>
          </a:xfrm>
          <a:prstGeom prst="roundRect">
            <a:avLst>
              <a:gd name="adj" fmla="val 3529"/>
            </a:avLst>
          </a:prstGeom>
          <a:solidFill>
            <a:srgbClr val="16241C"/>
          </a:solidFill>
          <a:ln w="12700">
            <a:solidFill>
              <a:srgbClr val="2E4237"/>
            </a:solidFill>
            <a:prstDash val="solid"/>
          </a:ln>
        </p:spPr>
      </p:sp>
      <p:sp>
        <p:nvSpPr>
          <p:cNvPr id="6" name="Text 4"/>
          <p:cNvSpPr/>
          <p:nvPr/>
        </p:nvSpPr>
        <p:spPr>
          <a:xfrm>
            <a:off x="649224"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$129,942</a:t>
            </a:r>
            <a:endParaRPr lang="en-US" sz="2000" dirty="0"/>
          </a:p>
        </p:txBody>
      </p:sp>
      <p:sp>
        <p:nvSpPr>
          <p:cNvPr id="7" name="Text 5"/>
          <p:cNvSpPr/>
          <p:nvPr/>
        </p:nvSpPr>
        <p:spPr>
          <a:xfrm>
            <a:off x="649224"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Playa Vista median household income. Against a Los Angeles County median well below it. This is a cash-pay market.  (US Census Bureau, via Point2Homes)</a:t>
            </a:r>
            <a:endParaRPr lang="en-US" sz="900" dirty="0"/>
          </a:p>
        </p:txBody>
      </p:sp>
      <p:sp>
        <p:nvSpPr>
          <p:cNvPr id="8" name="Shape 6"/>
          <p:cNvSpPr/>
          <p:nvPr/>
        </p:nvSpPr>
        <p:spPr>
          <a:xfrm>
            <a:off x="3270504" y="2286000"/>
            <a:ext cx="2602992" cy="1554480"/>
          </a:xfrm>
          <a:prstGeom prst="roundRect">
            <a:avLst>
              <a:gd name="adj" fmla="val 3529"/>
            </a:avLst>
          </a:prstGeom>
          <a:solidFill>
            <a:srgbClr val="16241C"/>
          </a:solidFill>
          <a:ln w="12700">
            <a:solidFill>
              <a:srgbClr val="2E4237"/>
            </a:solidFill>
            <a:prstDash val="solid"/>
          </a:ln>
        </p:spPr>
      </p:sp>
      <p:sp>
        <p:nvSpPr>
          <p:cNvPr id="9" name="Text 7"/>
          <p:cNvSpPr/>
          <p:nvPr/>
        </p:nvSpPr>
        <p:spPr>
          <a:xfrm>
            <a:off x="3416808"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500+</a:t>
            </a:r>
            <a:endParaRPr lang="en-US" sz="2000" dirty="0"/>
          </a:p>
        </p:txBody>
      </p:sp>
      <p:sp>
        <p:nvSpPr>
          <p:cNvPr id="10" name="Text 8"/>
          <p:cNvSpPr/>
          <p:nvPr/>
        </p:nvSpPr>
        <p:spPr>
          <a:xfrm>
            <a:off x="3416808"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Technology companies in Silicon Beach. The Westside tech corridor that Playa Vista sits at the center of.  (Wikipedia, Silicon Beach)</a:t>
            </a:r>
            <a:endParaRPr lang="en-US" sz="900" dirty="0"/>
          </a:p>
        </p:txBody>
      </p:sp>
      <p:sp>
        <p:nvSpPr>
          <p:cNvPr id="11" name="Shape 9"/>
          <p:cNvSpPr/>
          <p:nvPr/>
        </p:nvSpPr>
        <p:spPr>
          <a:xfrm>
            <a:off x="6038088" y="2286000"/>
            <a:ext cx="2602992" cy="1554480"/>
          </a:xfrm>
          <a:prstGeom prst="roundRect">
            <a:avLst>
              <a:gd name="adj" fmla="val 3529"/>
            </a:avLst>
          </a:prstGeom>
          <a:solidFill>
            <a:srgbClr val="16241C"/>
          </a:solidFill>
          <a:ln w="12700">
            <a:solidFill>
              <a:srgbClr val="2E4237"/>
            </a:solidFill>
            <a:prstDash val="solid"/>
          </a:ln>
        </p:spPr>
      </p:sp>
      <p:sp>
        <p:nvSpPr>
          <p:cNvPr id="12" name="Text 10"/>
          <p:cNvSpPr/>
          <p:nvPr/>
        </p:nvSpPr>
        <p:spPr>
          <a:xfrm>
            <a:off x="6184392"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~5,100</a:t>
            </a:r>
            <a:endParaRPr lang="en-US" sz="2000" dirty="0"/>
          </a:p>
        </p:txBody>
      </p:sp>
      <p:sp>
        <p:nvSpPr>
          <p:cNvPr id="13" name="Text 11"/>
          <p:cNvSpPr/>
          <p:nvPr/>
        </p:nvSpPr>
        <p:spPr>
          <a:xfrm>
            <a:off x="6184392"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Employed at The Campus at Playa Vista. Up from roughly 2,000 in 2015, a 150% increase. A dense, high-income daytime population inside walking distance.  (Los Angeles Business Journal)</a:t>
            </a:r>
            <a:endParaRPr lang="en-US" sz="900" dirty="0"/>
          </a:p>
        </p:txBody>
      </p:sp>
      <p:sp>
        <p:nvSpPr>
          <p:cNvPr id="14" name="Text 12"/>
          <p:cNvSpPr/>
          <p:nvPr/>
        </p:nvSpPr>
        <p:spPr>
          <a:xfrm>
            <a:off x="502920" y="3520440"/>
            <a:ext cx="8138160" cy="201168"/>
          </a:xfrm>
          <a:prstGeom prst="rect">
            <a:avLst/>
          </a:prstGeom>
          <a:noFill/>
          <a:ln/>
        </p:spPr>
        <p:txBody>
          <a:bodyPr wrap="square" rtlCol="0" anchor="ctr"/>
          <a:lstStyle/>
          <a:p>
            <a:pPr indent="0" marL="0">
              <a:buNone/>
            </a:pPr>
            <a:r>
              <a:rPr lang="en-US" sz="850" spc="260" kern="0" dirty="0">
                <a:solidFill>
                  <a:srgbClr val="C08D7C"/>
                </a:solidFill>
                <a:latin typeface="Century Gothic" pitchFamily="34" charset="0"/>
                <a:ea typeface="Century Gothic" pitchFamily="34" charset="-122"/>
                <a:cs typeface="Century Gothic" pitchFamily="34" charset="-120"/>
              </a:rPr>
              <a:t>INSIDE A REALISTIC DRIVE TIME</a:t>
            </a:r>
            <a:endParaRPr lang="en-US" sz="850" dirty="0"/>
          </a:p>
        </p:txBody>
      </p:sp>
      <p:sp>
        <p:nvSpPr>
          <p:cNvPr id="15" name="Text 13"/>
          <p:cNvSpPr/>
          <p:nvPr/>
        </p:nvSpPr>
        <p:spPr>
          <a:xfrm>
            <a:off x="502920" y="3749040"/>
            <a:ext cx="8138160" cy="457200"/>
          </a:xfrm>
          <a:prstGeom prst="rect">
            <a:avLst/>
          </a:prstGeom>
          <a:noFill/>
          <a:ln/>
        </p:spPr>
        <p:txBody>
          <a:bodyPr wrap="square" rtlCol="0" anchor="ctr"/>
          <a:lstStyle/>
          <a:p>
            <a:pPr indent="0" marL="0">
              <a:lnSpc>
                <a:spcPct val="120000"/>
              </a:lnSpc>
              <a:buNone/>
            </a:pPr>
            <a:r>
              <a:rPr lang="en-US" sz="1100" dirty="0">
                <a:solidFill>
                  <a:srgbClr val="A8A296"/>
                </a:solidFill>
                <a:latin typeface="Calibri" pitchFamily="34" charset="0"/>
                <a:ea typeface="Calibri" pitchFamily="34" charset="-122"/>
                <a:cs typeface="Calibri" pitchFamily="34" charset="-120"/>
              </a:rPr>
              <a:t>Playa Vista   ·   Marina del Rey   ·   Culver City   ·   Venice   ·   Santa Monica   ·   Playa del Rey   ·   El Segundo   ·   Westchester   ·   Mar Vista   ·   Manhattan Beach</a:t>
            </a:r>
            <a:endParaRPr lang="en-US" sz="110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30 wellness lines, every one cash-pay (1 of 2).</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No insurance contracts, no payer mix, no receivables aging. Prices are exact, not banded.</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103120"/>
                <a:gridCol w="960120"/>
                <a:gridCol w="777240"/>
                <a:gridCol w="685800"/>
                <a:gridCol w="868680"/>
                <a:gridCol w="1143000"/>
                <a:gridCol w="11430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After 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Aescape Robotic Massage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$11,480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Ammortal Chamber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$13,776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Red Light Therapy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$39,000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$31,980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Hyperbaric Oxygen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Compression Therapy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$10,125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$8,303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Hair &amp; Scalp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$32,835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$23,641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Face &amp; Aesthetic</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$16,660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Scar &amp; Skin Repair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$3,900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Soft Tissue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Joint &amp; Cartilage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Post-procedure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Basic Hydration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$7,029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$4,780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Myers Cocktail</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$199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$6,766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$3,789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 / Hangover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$8,466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$5,249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Immunity / High-Dose C</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$4,407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Subtotal, continued overleaf</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1,552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$247,496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$176,665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30 wellness lines, every one cash-pay (2 of 2).</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103120"/>
                <a:gridCol w="960120"/>
                <a:gridCol w="777240"/>
                <a:gridCol w="685800"/>
                <a:gridCol w="868680"/>
                <a:gridCol w="1143000"/>
                <a:gridCol w="11430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After 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Beauty / Glutathione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$9,405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$6,207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Athletic Performance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$9,960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$6,474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NAD+ 100mg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$5,347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NAD+ 250mg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$11,550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$8,778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NAD+ 500mg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$18,150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$14,157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IM Shot: B12 / Lipo</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$5,510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$3,582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Therapeutic medications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Botox (15-unit minimum)</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$19,200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$13,440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Filler (0.5 ml)</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$47,600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$30,940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RF Microneedling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$37,500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Laser Platform</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$17,850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Advanced Biometrics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DNA Analysis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$6,030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DUTCH Plus Test</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DEXA Scan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$9,025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$6,949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Wellness delivery at list value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672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$259,625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$183,654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Seven surgical lines, also cash-pay.</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Elective self-pay only. No payer contracts on the surgical side either, which is the direct result of holding the menu to the sedation ceiling.</a:t>
            </a:r>
            <a:endParaRPr lang="en-US" sz="11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103120"/>
                <a:gridCol w="960120"/>
                <a:gridCol w="777240"/>
                <a:gridCol w="685800"/>
                <a:gridCol w="868680"/>
                <a:gridCol w="1143000"/>
                <a:gridCol w="11430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After 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Blepharoplasty (facility fee)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$19,600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$15,680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Facial Contouring Surgery (facility fee)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Awake Liposuction &amp; Body Contouring (facility fee)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$17,784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Fat Grafting &amp; Transfer (facility fee)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$8,960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Hair Restoration 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Office Surgical Procedures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$26,400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$20,064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Ablative Laser &amp; Skin Tightening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$21,250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$15,513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Surgical delivery at list value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42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$145,250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$111,401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3310128"/>
            <a:ext cx="8138160" cy="868680"/>
          </a:xfrm>
          <a:prstGeom prst="rect">
            <a:avLst/>
          </a:prstGeom>
          <a:noFill/>
          <a:ln/>
        </p:spPr>
        <p:txBody>
          <a:bodyPr wrap="square" rtlCol="0" anchor="ctr"/>
          <a:lstStyle/>
          <a:p>
            <a:pPr indent="0" marL="0">
              <a:lnSpc>
                <a:spcPct val="118000"/>
              </a:lnSpc>
              <a:buNone/>
            </a:pPr>
            <a:r>
              <a:rPr lang="en-US" sz="850" b="1" dirty="0">
                <a:solidFill>
                  <a:srgbClr val="C08D7C"/>
                </a:solidFill>
                <a:latin typeface="Calibri" pitchFamily="34" charset="0"/>
                <a:ea typeface="Calibri" pitchFamily="34" charset="-122"/>
                <a:cs typeface="Calibri" pitchFamily="34" charset="-120"/>
              </a:rPr>
              <a:t>The four operating-room lines are FACILITY FEES. </a:t>
            </a:r>
            <a:pPr indent="0" marL="0">
              <a:lnSpc>
                <a:spcPct val="118000"/>
              </a:lnSpc>
              <a:buNone/>
            </a:pPr>
            <a:r>
              <a:rPr lang="en-US" sz="850" dirty="0">
                <a:solidFill>
                  <a:srgbClr val="6E6A62"/>
                </a:solidFill>
                <a:latin typeface="Calibri" pitchFamily="34" charset="0"/>
                <a:ea typeface="Calibri" pitchFamily="34" charset="-122"/>
                <a:cs typeface="Calibri" pitchFamily="34" charset="-120"/>
              </a:rPr>
              <a:t>They are what L&amp;K collects for the room, clinical staff, supplies, sedation monitoring and recovery. The surgeon is a principal who bills the patient directly for their professional fee, which never appears on these books, so the all-in price a patient pays is materially higher than the figures above. That is also why OR margins exceed the treatment-room lines: with no surgeon share to pay, facility cost of goods is disposables, implants, drugs and linens only. Across 38.5 OR hours a month the schedule works out to about $1,756 per operating-room hour. Hair restoration, ablative laser and office excisions bill the full fee, because the clinic’s own clinicians perform them in treatment rooms it already has.</a:t>
            </a:r>
            <a:endParaRPr lang="en-US" sz="85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REVENUE MODEL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Membership revenue is not additive.</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easy mistake is to stack membership fees on top of full a la carte revenue. Members draw down a credit bank against services that would otherwise be paid at list price, so redemption is netted out first.</a:t>
            </a:r>
            <a:endParaRPr lang="en-US" sz="11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5486400"/>
                <a:gridCol w="265176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Build</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Service delivery at list value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$652,371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A8A296"/>
                          </a:solidFill>
                          <a:latin typeface="Calibri" pitchFamily="34" charset="0"/>
                          <a:ea typeface="Calibri" pitchFamily="34" charset="-122"/>
                          <a:cs typeface="Calibri" pitchFamily="34" charset="-120"/>
                        </a:rPr>
                        <a:t>less member credit redemption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-$129,500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A8A296"/>
                          </a:solidFill>
                          <a:latin typeface="Calibri" pitchFamily="34" charset="0"/>
                          <a:ea typeface="Calibri" pitchFamily="34" charset="-122"/>
                          <a:cs typeface="Calibri" pitchFamily="34" charset="-120"/>
                        </a:rPr>
                        <a:t>less member and Friends discount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-$41,830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A la carte revenue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$481,041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plus membership fees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$230,000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plus day pass and access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$20,625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TOTAL REVENUE PER MONTH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$731,666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114800"/>
            <a:ext cx="8138160" cy="457200"/>
          </a:xfrm>
          <a:prstGeom prst="rect">
            <a:avLst/>
          </a:prstGeom>
          <a:noFill/>
          <a:ln/>
        </p:spPr>
        <p:txBody>
          <a:bodyPr wrap="square" rtlCol="0" anchor="ctr"/>
          <a:lstStyle/>
          <a:p>
            <a:pPr indent="0" marL="0">
              <a:lnSpc>
                <a:spcPct val="120000"/>
              </a:lnSpc>
              <a:buNone/>
            </a:pPr>
            <a:r>
              <a:rPr lang="en-US" sz="900" dirty="0">
                <a:solidFill>
                  <a:srgbClr val="6E6A62"/>
                </a:solidFill>
                <a:latin typeface="Calibri" pitchFamily="34" charset="0"/>
                <a:ea typeface="Calibri" pitchFamily="34" charset="-122"/>
                <a:cs typeface="Calibri" pitchFamily="34" charset="-120"/>
              </a:rPr>
              <a:t>Residents and Longevity members pay $207,500 a month and redeem $129,500 of service at retail. Redemption ratio 62.4%. If that exceeded 100% the credit bank would be underpriced; the model asserts it cannot.</a:t>
            </a:r>
            <a:endParaRPr lang="en-US" sz="90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RAMP</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Breakeven at month 12.</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Months one through six are construction and founding presales. There is no debt service at any point, so operating income is what the business keeps.</a:t>
            </a:r>
            <a:endParaRPr lang="en-US" sz="1150" dirty="0"/>
          </a:p>
        </p:txBody>
      </p:sp>
      <p:sp>
        <p:nvSpPr>
          <p:cNvPr id="5" name="Shape 3"/>
          <p:cNvSpPr/>
          <p:nvPr/>
        </p:nvSpPr>
        <p:spPr>
          <a:xfrm>
            <a:off x="502920" y="1572768"/>
            <a:ext cx="8138160" cy="2377440"/>
          </a:xfrm>
          <a:prstGeom prst="rect">
            <a:avLst/>
          </a:prstGeom>
          <a:solidFill>
            <a:srgbClr val="000000"/>
          </a:solidFill>
          <a:ln w="9525">
            <a:solidFill>
              <a:srgbClr val="2E4237"/>
            </a:solidFill>
            <a:prstDash val="solid"/>
          </a:ln>
        </p:spPr>
      </p:sp>
      <p:sp>
        <p:nvSpPr>
          <p:cNvPr id="6" name="Shape 4"/>
          <p:cNvSpPr/>
          <p:nvPr/>
        </p:nvSpPr>
        <p:spPr>
          <a:xfrm>
            <a:off x="502920" y="2861726"/>
            <a:ext cx="8138160" cy="10973"/>
          </a:xfrm>
          <a:prstGeom prst="rect">
            <a:avLst/>
          </a:prstGeom>
          <a:solidFill>
            <a:srgbClr val="2E4237"/>
          </a:solidFill>
          <a:ln w="12700">
            <a:solidFill>
              <a:srgbClr val="2E4237"/>
            </a:solidFill>
            <a:prstDash val="solid"/>
          </a:ln>
        </p:spPr>
      </p:sp>
      <p:sp>
        <p:nvSpPr>
          <p:cNvPr id="7" name="Shape 5"/>
          <p:cNvSpPr/>
          <p:nvPr/>
        </p:nvSpPr>
        <p:spPr>
          <a:xfrm>
            <a:off x="539090" y="2861726"/>
            <a:ext cx="153721" cy="815703"/>
          </a:xfrm>
          <a:prstGeom prst="rect">
            <a:avLst/>
          </a:prstGeom>
          <a:solidFill>
            <a:srgbClr val="2E4237"/>
          </a:solidFill>
          <a:ln w="12700">
            <a:solidFill>
              <a:srgbClr val="2E4237"/>
            </a:solidFill>
            <a:prstDash val="solid"/>
          </a:ln>
        </p:spPr>
      </p:sp>
      <p:sp>
        <p:nvSpPr>
          <p:cNvPr id="8" name="Shape 6"/>
          <p:cNvSpPr/>
          <p:nvPr/>
        </p:nvSpPr>
        <p:spPr>
          <a:xfrm>
            <a:off x="765150" y="2861726"/>
            <a:ext cx="153721" cy="815703"/>
          </a:xfrm>
          <a:prstGeom prst="rect">
            <a:avLst/>
          </a:prstGeom>
          <a:solidFill>
            <a:srgbClr val="2E4237"/>
          </a:solidFill>
          <a:ln w="12700">
            <a:solidFill>
              <a:srgbClr val="2E4237"/>
            </a:solidFill>
            <a:prstDash val="solid"/>
          </a:ln>
        </p:spPr>
      </p:sp>
      <p:sp>
        <p:nvSpPr>
          <p:cNvPr id="9" name="Shape 7"/>
          <p:cNvSpPr/>
          <p:nvPr/>
        </p:nvSpPr>
        <p:spPr>
          <a:xfrm>
            <a:off x="991210" y="2861726"/>
            <a:ext cx="153721" cy="815703"/>
          </a:xfrm>
          <a:prstGeom prst="rect">
            <a:avLst/>
          </a:prstGeom>
          <a:solidFill>
            <a:srgbClr val="2E4237"/>
          </a:solidFill>
          <a:ln w="12700">
            <a:solidFill>
              <a:srgbClr val="2E4237"/>
            </a:solidFill>
            <a:prstDash val="solid"/>
          </a:ln>
        </p:spPr>
      </p:sp>
      <p:sp>
        <p:nvSpPr>
          <p:cNvPr id="10" name="Shape 8"/>
          <p:cNvSpPr/>
          <p:nvPr/>
        </p:nvSpPr>
        <p:spPr>
          <a:xfrm>
            <a:off x="1217270" y="2861726"/>
            <a:ext cx="153721" cy="815703"/>
          </a:xfrm>
          <a:prstGeom prst="rect">
            <a:avLst/>
          </a:prstGeom>
          <a:solidFill>
            <a:srgbClr val="2E4237"/>
          </a:solidFill>
          <a:ln w="12700">
            <a:solidFill>
              <a:srgbClr val="2E4237"/>
            </a:solidFill>
            <a:prstDash val="solid"/>
          </a:ln>
        </p:spPr>
      </p:sp>
      <p:sp>
        <p:nvSpPr>
          <p:cNvPr id="11" name="Shape 9"/>
          <p:cNvSpPr/>
          <p:nvPr/>
        </p:nvSpPr>
        <p:spPr>
          <a:xfrm>
            <a:off x="1443330" y="2861726"/>
            <a:ext cx="153721" cy="815703"/>
          </a:xfrm>
          <a:prstGeom prst="rect">
            <a:avLst/>
          </a:prstGeom>
          <a:solidFill>
            <a:srgbClr val="2E4237"/>
          </a:solidFill>
          <a:ln w="12700">
            <a:solidFill>
              <a:srgbClr val="2E4237"/>
            </a:solidFill>
            <a:prstDash val="solid"/>
          </a:ln>
        </p:spPr>
      </p:sp>
      <p:sp>
        <p:nvSpPr>
          <p:cNvPr id="12" name="Shape 10"/>
          <p:cNvSpPr/>
          <p:nvPr/>
        </p:nvSpPr>
        <p:spPr>
          <a:xfrm>
            <a:off x="1669390" y="2861726"/>
            <a:ext cx="153721" cy="815703"/>
          </a:xfrm>
          <a:prstGeom prst="rect">
            <a:avLst/>
          </a:prstGeom>
          <a:solidFill>
            <a:srgbClr val="2E4237"/>
          </a:solidFill>
          <a:ln w="12700">
            <a:solidFill>
              <a:srgbClr val="2E4237"/>
            </a:solidFill>
            <a:prstDash val="solid"/>
          </a:ln>
        </p:spPr>
      </p:sp>
      <p:sp>
        <p:nvSpPr>
          <p:cNvPr id="13" name="Text 11"/>
          <p:cNvSpPr/>
          <p:nvPr/>
        </p:nvSpPr>
        <p:spPr>
          <a:xfrm>
            <a:off x="144333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M6</a:t>
            </a:r>
            <a:endParaRPr lang="en-US" sz="700" dirty="0"/>
          </a:p>
        </p:txBody>
      </p:sp>
      <p:sp>
        <p:nvSpPr>
          <p:cNvPr id="14" name="Shape 12"/>
          <p:cNvSpPr/>
          <p:nvPr/>
        </p:nvSpPr>
        <p:spPr>
          <a:xfrm>
            <a:off x="1895450" y="2861726"/>
            <a:ext cx="153721" cy="1088482"/>
          </a:xfrm>
          <a:prstGeom prst="rect">
            <a:avLst/>
          </a:prstGeom>
          <a:solidFill>
            <a:srgbClr val="2E4237"/>
          </a:solidFill>
          <a:ln w="12700">
            <a:solidFill>
              <a:srgbClr val="2E4237"/>
            </a:solidFill>
            <a:prstDash val="solid"/>
          </a:ln>
        </p:spPr>
      </p:sp>
      <p:sp>
        <p:nvSpPr>
          <p:cNvPr id="15" name="Shape 13"/>
          <p:cNvSpPr/>
          <p:nvPr/>
        </p:nvSpPr>
        <p:spPr>
          <a:xfrm>
            <a:off x="2121510" y="2861726"/>
            <a:ext cx="153721" cy="835112"/>
          </a:xfrm>
          <a:prstGeom prst="rect">
            <a:avLst/>
          </a:prstGeom>
          <a:solidFill>
            <a:srgbClr val="2E4237"/>
          </a:solidFill>
          <a:ln w="12700">
            <a:solidFill>
              <a:srgbClr val="2E4237"/>
            </a:solidFill>
            <a:prstDash val="solid"/>
          </a:ln>
        </p:spPr>
      </p:sp>
      <p:sp>
        <p:nvSpPr>
          <p:cNvPr id="16" name="Shape 14"/>
          <p:cNvSpPr/>
          <p:nvPr/>
        </p:nvSpPr>
        <p:spPr>
          <a:xfrm>
            <a:off x="2347570" y="2861726"/>
            <a:ext cx="153721" cy="545550"/>
          </a:xfrm>
          <a:prstGeom prst="rect">
            <a:avLst/>
          </a:prstGeom>
          <a:solidFill>
            <a:srgbClr val="2E4237"/>
          </a:solidFill>
          <a:ln w="12700">
            <a:solidFill>
              <a:srgbClr val="2E4237"/>
            </a:solidFill>
            <a:prstDash val="solid"/>
          </a:ln>
        </p:spPr>
      </p:sp>
      <p:sp>
        <p:nvSpPr>
          <p:cNvPr id="17" name="Shape 15"/>
          <p:cNvSpPr/>
          <p:nvPr/>
        </p:nvSpPr>
        <p:spPr>
          <a:xfrm>
            <a:off x="2573630" y="2861726"/>
            <a:ext cx="153721" cy="328372"/>
          </a:xfrm>
          <a:prstGeom prst="rect">
            <a:avLst/>
          </a:prstGeom>
          <a:solidFill>
            <a:srgbClr val="2E4237"/>
          </a:solidFill>
          <a:ln w="12700">
            <a:solidFill>
              <a:srgbClr val="2E4237"/>
            </a:solidFill>
            <a:prstDash val="solid"/>
          </a:ln>
        </p:spPr>
      </p:sp>
      <p:sp>
        <p:nvSpPr>
          <p:cNvPr id="18" name="Shape 16"/>
          <p:cNvSpPr/>
          <p:nvPr/>
        </p:nvSpPr>
        <p:spPr>
          <a:xfrm>
            <a:off x="2799690" y="2861726"/>
            <a:ext cx="153721" cy="111200"/>
          </a:xfrm>
          <a:prstGeom prst="rect">
            <a:avLst/>
          </a:prstGeom>
          <a:solidFill>
            <a:srgbClr val="2E4237"/>
          </a:solidFill>
          <a:ln w="12700">
            <a:solidFill>
              <a:srgbClr val="2E4237"/>
            </a:solidFill>
            <a:prstDash val="solid"/>
          </a:ln>
        </p:spPr>
      </p:sp>
      <p:sp>
        <p:nvSpPr>
          <p:cNvPr id="19" name="Shape 17"/>
          <p:cNvSpPr/>
          <p:nvPr/>
        </p:nvSpPr>
        <p:spPr>
          <a:xfrm>
            <a:off x="3025750" y="2755755"/>
            <a:ext cx="153721" cy="105971"/>
          </a:xfrm>
          <a:prstGeom prst="rect">
            <a:avLst/>
          </a:prstGeom>
          <a:solidFill>
            <a:srgbClr val="C08D7C"/>
          </a:solidFill>
          <a:ln w="12700">
            <a:solidFill>
              <a:srgbClr val="C08D7C"/>
            </a:solidFill>
            <a:prstDash val="solid"/>
          </a:ln>
        </p:spPr>
      </p:sp>
      <p:sp>
        <p:nvSpPr>
          <p:cNvPr id="20" name="Text 18"/>
          <p:cNvSpPr/>
          <p:nvPr/>
        </p:nvSpPr>
        <p:spPr>
          <a:xfrm>
            <a:off x="279969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M12</a:t>
            </a:r>
            <a:endParaRPr lang="en-US" sz="700" dirty="0"/>
          </a:p>
        </p:txBody>
      </p:sp>
      <p:sp>
        <p:nvSpPr>
          <p:cNvPr id="21" name="Shape 19"/>
          <p:cNvSpPr/>
          <p:nvPr/>
        </p:nvSpPr>
        <p:spPr>
          <a:xfrm>
            <a:off x="3251810" y="2538584"/>
            <a:ext cx="153721" cy="323142"/>
          </a:xfrm>
          <a:prstGeom prst="rect">
            <a:avLst/>
          </a:prstGeom>
          <a:solidFill>
            <a:srgbClr val="C08D7C"/>
          </a:solidFill>
          <a:ln w="12700">
            <a:solidFill>
              <a:srgbClr val="C08D7C"/>
            </a:solidFill>
            <a:prstDash val="solid"/>
          </a:ln>
        </p:spPr>
      </p:sp>
      <p:sp>
        <p:nvSpPr>
          <p:cNvPr id="22" name="Shape 20"/>
          <p:cNvSpPr/>
          <p:nvPr/>
        </p:nvSpPr>
        <p:spPr>
          <a:xfrm>
            <a:off x="3477870" y="2393796"/>
            <a:ext cx="153721" cy="467930"/>
          </a:xfrm>
          <a:prstGeom prst="rect">
            <a:avLst/>
          </a:prstGeom>
          <a:solidFill>
            <a:srgbClr val="C08D7C"/>
          </a:solidFill>
          <a:ln w="12700">
            <a:solidFill>
              <a:srgbClr val="C08D7C"/>
            </a:solidFill>
            <a:prstDash val="solid"/>
          </a:ln>
        </p:spPr>
      </p:sp>
      <p:sp>
        <p:nvSpPr>
          <p:cNvPr id="23" name="Shape 21"/>
          <p:cNvSpPr/>
          <p:nvPr/>
        </p:nvSpPr>
        <p:spPr>
          <a:xfrm>
            <a:off x="3703930" y="2249015"/>
            <a:ext cx="153721" cy="612711"/>
          </a:xfrm>
          <a:prstGeom prst="rect">
            <a:avLst/>
          </a:prstGeom>
          <a:solidFill>
            <a:srgbClr val="C08D7C"/>
          </a:solidFill>
          <a:ln w="12700">
            <a:solidFill>
              <a:srgbClr val="C08D7C"/>
            </a:solidFill>
            <a:prstDash val="solid"/>
          </a:ln>
        </p:spPr>
      </p:sp>
      <p:sp>
        <p:nvSpPr>
          <p:cNvPr id="24" name="Shape 22"/>
          <p:cNvSpPr/>
          <p:nvPr/>
        </p:nvSpPr>
        <p:spPr>
          <a:xfrm>
            <a:off x="3929990" y="2104234"/>
            <a:ext cx="153721" cy="757492"/>
          </a:xfrm>
          <a:prstGeom prst="rect">
            <a:avLst/>
          </a:prstGeom>
          <a:solidFill>
            <a:srgbClr val="C08D7C"/>
          </a:solidFill>
          <a:ln w="12700">
            <a:solidFill>
              <a:srgbClr val="C08D7C"/>
            </a:solidFill>
            <a:prstDash val="solid"/>
          </a:ln>
        </p:spPr>
      </p:sp>
      <p:sp>
        <p:nvSpPr>
          <p:cNvPr id="25" name="Shape 23"/>
          <p:cNvSpPr/>
          <p:nvPr/>
        </p:nvSpPr>
        <p:spPr>
          <a:xfrm>
            <a:off x="4156050" y="1959453"/>
            <a:ext cx="153721" cy="902273"/>
          </a:xfrm>
          <a:prstGeom prst="rect">
            <a:avLst/>
          </a:prstGeom>
          <a:solidFill>
            <a:srgbClr val="C08D7C"/>
          </a:solidFill>
          <a:ln w="12700">
            <a:solidFill>
              <a:srgbClr val="C08D7C"/>
            </a:solidFill>
            <a:prstDash val="solid"/>
          </a:ln>
        </p:spPr>
      </p:sp>
      <p:sp>
        <p:nvSpPr>
          <p:cNvPr id="26" name="Shape 24"/>
          <p:cNvSpPr/>
          <p:nvPr/>
        </p:nvSpPr>
        <p:spPr>
          <a:xfrm>
            <a:off x="4382110" y="1920786"/>
            <a:ext cx="153721" cy="940940"/>
          </a:xfrm>
          <a:prstGeom prst="rect">
            <a:avLst/>
          </a:prstGeom>
          <a:solidFill>
            <a:srgbClr val="C08D7C"/>
          </a:solidFill>
          <a:ln w="12700">
            <a:solidFill>
              <a:srgbClr val="C08D7C"/>
            </a:solidFill>
            <a:prstDash val="solid"/>
          </a:ln>
        </p:spPr>
      </p:sp>
      <p:sp>
        <p:nvSpPr>
          <p:cNvPr id="27" name="Text 25"/>
          <p:cNvSpPr/>
          <p:nvPr/>
        </p:nvSpPr>
        <p:spPr>
          <a:xfrm>
            <a:off x="415605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M18</a:t>
            </a:r>
            <a:endParaRPr lang="en-US" sz="700" dirty="0"/>
          </a:p>
        </p:txBody>
      </p:sp>
      <p:sp>
        <p:nvSpPr>
          <p:cNvPr id="28" name="Shape 26"/>
          <p:cNvSpPr/>
          <p:nvPr/>
        </p:nvSpPr>
        <p:spPr>
          <a:xfrm>
            <a:off x="4608170" y="1882119"/>
            <a:ext cx="153721" cy="979607"/>
          </a:xfrm>
          <a:prstGeom prst="rect">
            <a:avLst/>
          </a:prstGeom>
          <a:solidFill>
            <a:srgbClr val="C08D7C"/>
          </a:solidFill>
          <a:ln w="12700">
            <a:solidFill>
              <a:srgbClr val="C08D7C"/>
            </a:solidFill>
            <a:prstDash val="solid"/>
          </a:ln>
        </p:spPr>
      </p:sp>
      <p:sp>
        <p:nvSpPr>
          <p:cNvPr id="29" name="Shape 27"/>
          <p:cNvSpPr/>
          <p:nvPr/>
        </p:nvSpPr>
        <p:spPr>
          <a:xfrm>
            <a:off x="4834230" y="1843445"/>
            <a:ext cx="153721" cy="1018281"/>
          </a:xfrm>
          <a:prstGeom prst="rect">
            <a:avLst/>
          </a:prstGeom>
          <a:solidFill>
            <a:srgbClr val="C08D7C"/>
          </a:solidFill>
          <a:ln w="12700">
            <a:solidFill>
              <a:srgbClr val="C08D7C"/>
            </a:solidFill>
            <a:prstDash val="solid"/>
          </a:ln>
        </p:spPr>
      </p:sp>
      <p:sp>
        <p:nvSpPr>
          <p:cNvPr id="30" name="Shape 28"/>
          <p:cNvSpPr/>
          <p:nvPr/>
        </p:nvSpPr>
        <p:spPr>
          <a:xfrm>
            <a:off x="5060290" y="1804778"/>
            <a:ext cx="153721" cy="1056948"/>
          </a:xfrm>
          <a:prstGeom prst="rect">
            <a:avLst/>
          </a:prstGeom>
          <a:solidFill>
            <a:srgbClr val="C08D7C"/>
          </a:solidFill>
          <a:ln w="12700">
            <a:solidFill>
              <a:srgbClr val="C08D7C"/>
            </a:solidFill>
            <a:prstDash val="solid"/>
          </a:ln>
        </p:spPr>
      </p:sp>
      <p:sp>
        <p:nvSpPr>
          <p:cNvPr id="31" name="Shape 29"/>
          <p:cNvSpPr/>
          <p:nvPr/>
        </p:nvSpPr>
        <p:spPr>
          <a:xfrm>
            <a:off x="5286350" y="1766111"/>
            <a:ext cx="153721" cy="1095615"/>
          </a:xfrm>
          <a:prstGeom prst="rect">
            <a:avLst/>
          </a:prstGeom>
          <a:solidFill>
            <a:srgbClr val="C08D7C"/>
          </a:solidFill>
          <a:ln w="12700">
            <a:solidFill>
              <a:srgbClr val="C08D7C"/>
            </a:solidFill>
            <a:prstDash val="solid"/>
          </a:ln>
        </p:spPr>
      </p:sp>
      <p:sp>
        <p:nvSpPr>
          <p:cNvPr id="32" name="Shape 30"/>
          <p:cNvSpPr/>
          <p:nvPr/>
        </p:nvSpPr>
        <p:spPr>
          <a:xfrm>
            <a:off x="5512410" y="1740330"/>
            <a:ext cx="153721" cy="1121396"/>
          </a:xfrm>
          <a:prstGeom prst="rect">
            <a:avLst/>
          </a:prstGeom>
          <a:solidFill>
            <a:srgbClr val="C08D7C"/>
          </a:solidFill>
          <a:ln w="12700">
            <a:solidFill>
              <a:srgbClr val="C08D7C"/>
            </a:solidFill>
            <a:prstDash val="solid"/>
          </a:ln>
        </p:spPr>
      </p:sp>
      <p:sp>
        <p:nvSpPr>
          <p:cNvPr id="33" name="Shape 31"/>
          <p:cNvSpPr/>
          <p:nvPr/>
        </p:nvSpPr>
        <p:spPr>
          <a:xfrm>
            <a:off x="5738470" y="1714550"/>
            <a:ext cx="153721" cy="1147176"/>
          </a:xfrm>
          <a:prstGeom prst="rect">
            <a:avLst/>
          </a:prstGeom>
          <a:solidFill>
            <a:srgbClr val="C08D7C"/>
          </a:solidFill>
          <a:ln w="12700">
            <a:solidFill>
              <a:srgbClr val="C08D7C"/>
            </a:solidFill>
            <a:prstDash val="solid"/>
          </a:ln>
        </p:spPr>
      </p:sp>
      <p:sp>
        <p:nvSpPr>
          <p:cNvPr id="34" name="Text 32"/>
          <p:cNvSpPr/>
          <p:nvPr/>
        </p:nvSpPr>
        <p:spPr>
          <a:xfrm>
            <a:off x="551241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M24</a:t>
            </a:r>
            <a:endParaRPr lang="en-US" sz="700" dirty="0"/>
          </a:p>
        </p:txBody>
      </p:sp>
      <p:sp>
        <p:nvSpPr>
          <p:cNvPr id="35" name="Shape 33"/>
          <p:cNvSpPr/>
          <p:nvPr/>
        </p:nvSpPr>
        <p:spPr>
          <a:xfrm>
            <a:off x="5964530" y="1688770"/>
            <a:ext cx="153721" cy="1172957"/>
          </a:xfrm>
          <a:prstGeom prst="rect">
            <a:avLst/>
          </a:prstGeom>
          <a:solidFill>
            <a:srgbClr val="C08D7C"/>
          </a:solidFill>
          <a:ln w="12700">
            <a:solidFill>
              <a:srgbClr val="C08D7C"/>
            </a:solidFill>
            <a:prstDash val="solid"/>
          </a:ln>
        </p:spPr>
      </p:sp>
      <p:sp>
        <p:nvSpPr>
          <p:cNvPr id="36" name="Shape 34"/>
          <p:cNvSpPr/>
          <p:nvPr/>
        </p:nvSpPr>
        <p:spPr>
          <a:xfrm>
            <a:off x="6190590" y="1662989"/>
            <a:ext cx="153721" cy="1198737"/>
          </a:xfrm>
          <a:prstGeom prst="rect">
            <a:avLst/>
          </a:prstGeom>
          <a:solidFill>
            <a:srgbClr val="C08D7C"/>
          </a:solidFill>
          <a:ln w="12700">
            <a:solidFill>
              <a:srgbClr val="C08D7C"/>
            </a:solidFill>
            <a:prstDash val="solid"/>
          </a:ln>
        </p:spPr>
      </p:sp>
      <p:sp>
        <p:nvSpPr>
          <p:cNvPr id="37" name="Shape 35"/>
          <p:cNvSpPr/>
          <p:nvPr/>
        </p:nvSpPr>
        <p:spPr>
          <a:xfrm>
            <a:off x="6416650" y="1650102"/>
            <a:ext cx="153721" cy="1211624"/>
          </a:xfrm>
          <a:prstGeom prst="rect">
            <a:avLst/>
          </a:prstGeom>
          <a:solidFill>
            <a:srgbClr val="C08D7C"/>
          </a:solidFill>
          <a:ln w="12700">
            <a:solidFill>
              <a:srgbClr val="C08D7C"/>
            </a:solidFill>
            <a:prstDash val="solid"/>
          </a:ln>
        </p:spPr>
      </p:sp>
      <p:sp>
        <p:nvSpPr>
          <p:cNvPr id="38" name="Shape 36"/>
          <p:cNvSpPr/>
          <p:nvPr/>
        </p:nvSpPr>
        <p:spPr>
          <a:xfrm>
            <a:off x="6642710" y="1624322"/>
            <a:ext cx="153721" cy="1237404"/>
          </a:xfrm>
          <a:prstGeom prst="rect">
            <a:avLst/>
          </a:prstGeom>
          <a:solidFill>
            <a:srgbClr val="C08D7C"/>
          </a:solidFill>
          <a:ln w="12700">
            <a:solidFill>
              <a:srgbClr val="C08D7C"/>
            </a:solidFill>
            <a:prstDash val="solid"/>
          </a:ln>
        </p:spPr>
      </p:sp>
      <p:sp>
        <p:nvSpPr>
          <p:cNvPr id="39" name="Shape 37"/>
          <p:cNvSpPr/>
          <p:nvPr/>
        </p:nvSpPr>
        <p:spPr>
          <a:xfrm>
            <a:off x="6868770" y="1611435"/>
            <a:ext cx="153721" cy="1250291"/>
          </a:xfrm>
          <a:prstGeom prst="rect">
            <a:avLst/>
          </a:prstGeom>
          <a:solidFill>
            <a:srgbClr val="C08D7C"/>
          </a:solidFill>
          <a:ln w="12700">
            <a:solidFill>
              <a:srgbClr val="C08D7C"/>
            </a:solidFill>
            <a:prstDash val="solid"/>
          </a:ln>
        </p:spPr>
      </p:sp>
      <p:sp>
        <p:nvSpPr>
          <p:cNvPr id="40" name="Shape 38"/>
          <p:cNvSpPr/>
          <p:nvPr/>
        </p:nvSpPr>
        <p:spPr>
          <a:xfrm>
            <a:off x="7094830" y="1598542"/>
            <a:ext cx="153721" cy="1263185"/>
          </a:xfrm>
          <a:prstGeom prst="rect">
            <a:avLst/>
          </a:prstGeom>
          <a:solidFill>
            <a:srgbClr val="C08D7C"/>
          </a:solidFill>
          <a:ln w="12700">
            <a:solidFill>
              <a:srgbClr val="C08D7C"/>
            </a:solidFill>
            <a:prstDash val="solid"/>
          </a:ln>
        </p:spPr>
      </p:sp>
      <p:sp>
        <p:nvSpPr>
          <p:cNvPr id="41" name="Text 39"/>
          <p:cNvSpPr/>
          <p:nvPr/>
        </p:nvSpPr>
        <p:spPr>
          <a:xfrm>
            <a:off x="686877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M30</a:t>
            </a:r>
            <a:endParaRPr lang="en-US" sz="700" dirty="0"/>
          </a:p>
        </p:txBody>
      </p:sp>
      <p:sp>
        <p:nvSpPr>
          <p:cNvPr id="42" name="Shape 40"/>
          <p:cNvSpPr/>
          <p:nvPr/>
        </p:nvSpPr>
        <p:spPr>
          <a:xfrm>
            <a:off x="7320890" y="1585655"/>
            <a:ext cx="153721" cy="1276071"/>
          </a:xfrm>
          <a:prstGeom prst="rect">
            <a:avLst/>
          </a:prstGeom>
          <a:solidFill>
            <a:srgbClr val="C08D7C"/>
          </a:solidFill>
          <a:ln w="12700">
            <a:solidFill>
              <a:srgbClr val="C08D7C"/>
            </a:solidFill>
            <a:prstDash val="solid"/>
          </a:ln>
        </p:spPr>
      </p:sp>
      <p:sp>
        <p:nvSpPr>
          <p:cNvPr id="43" name="Shape 41"/>
          <p:cNvSpPr/>
          <p:nvPr/>
        </p:nvSpPr>
        <p:spPr>
          <a:xfrm>
            <a:off x="7546950" y="1572768"/>
            <a:ext cx="153721" cy="1288958"/>
          </a:xfrm>
          <a:prstGeom prst="rect">
            <a:avLst/>
          </a:prstGeom>
          <a:solidFill>
            <a:srgbClr val="C08D7C"/>
          </a:solidFill>
          <a:ln w="12700">
            <a:solidFill>
              <a:srgbClr val="C08D7C"/>
            </a:solidFill>
            <a:prstDash val="solid"/>
          </a:ln>
        </p:spPr>
      </p:sp>
      <p:sp>
        <p:nvSpPr>
          <p:cNvPr id="44" name="Shape 42"/>
          <p:cNvSpPr/>
          <p:nvPr/>
        </p:nvSpPr>
        <p:spPr>
          <a:xfrm>
            <a:off x="7773010" y="1572768"/>
            <a:ext cx="153721" cy="1288958"/>
          </a:xfrm>
          <a:prstGeom prst="rect">
            <a:avLst/>
          </a:prstGeom>
          <a:solidFill>
            <a:srgbClr val="C08D7C"/>
          </a:solidFill>
          <a:ln w="12700">
            <a:solidFill>
              <a:srgbClr val="C08D7C"/>
            </a:solidFill>
            <a:prstDash val="solid"/>
          </a:ln>
        </p:spPr>
      </p:sp>
      <p:sp>
        <p:nvSpPr>
          <p:cNvPr id="45" name="Shape 43"/>
          <p:cNvSpPr/>
          <p:nvPr/>
        </p:nvSpPr>
        <p:spPr>
          <a:xfrm>
            <a:off x="7999070" y="1572768"/>
            <a:ext cx="153721" cy="1288958"/>
          </a:xfrm>
          <a:prstGeom prst="rect">
            <a:avLst/>
          </a:prstGeom>
          <a:solidFill>
            <a:srgbClr val="C08D7C"/>
          </a:solidFill>
          <a:ln w="12700">
            <a:solidFill>
              <a:srgbClr val="C08D7C"/>
            </a:solidFill>
            <a:prstDash val="solid"/>
          </a:ln>
        </p:spPr>
      </p:sp>
      <p:sp>
        <p:nvSpPr>
          <p:cNvPr id="46" name="Shape 44"/>
          <p:cNvSpPr/>
          <p:nvPr/>
        </p:nvSpPr>
        <p:spPr>
          <a:xfrm>
            <a:off x="8225130" y="1572768"/>
            <a:ext cx="153721" cy="1288958"/>
          </a:xfrm>
          <a:prstGeom prst="rect">
            <a:avLst/>
          </a:prstGeom>
          <a:solidFill>
            <a:srgbClr val="C08D7C"/>
          </a:solidFill>
          <a:ln w="12700">
            <a:solidFill>
              <a:srgbClr val="C08D7C"/>
            </a:solidFill>
            <a:prstDash val="solid"/>
          </a:ln>
        </p:spPr>
      </p:sp>
      <p:sp>
        <p:nvSpPr>
          <p:cNvPr id="47" name="Shape 45"/>
          <p:cNvSpPr/>
          <p:nvPr/>
        </p:nvSpPr>
        <p:spPr>
          <a:xfrm>
            <a:off x="8451190" y="1572768"/>
            <a:ext cx="153721" cy="1288958"/>
          </a:xfrm>
          <a:prstGeom prst="rect">
            <a:avLst/>
          </a:prstGeom>
          <a:solidFill>
            <a:srgbClr val="C08D7C"/>
          </a:solidFill>
          <a:ln w="12700">
            <a:solidFill>
              <a:srgbClr val="C08D7C"/>
            </a:solidFill>
            <a:prstDash val="solid"/>
          </a:ln>
        </p:spPr>
      </p:sp>
      <p:sp>
        <p:nvSpPr>
          <p:cNvPr id="48" name="Text 46"/>
          <p:cNvSpPr/>
          <p:nvPr/>
        </p:nvSpPr>
        <p:spPr>
          <a:xfrm>
            <a:off x="822513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M36</a:t>
            </a:r>
            <a:endParaRPr lang="en-US" sz="700" dirty="0"/>
          </a:p>
        </p:txBody>
      </p:sp>
      <p:sp>
        <p:nvSpPr>
          <p:cNvPr id="49" name="Text 47"/>
          <p:cNvSpPr/>
          <p:nvPr/>
        </p:nvSpPr>
        <p:spPr>
          <a:xfrm>
            <a:off x="576072" y="1618488"/>
            <a:ext cx="1463040" cy="164592"/>
          </a:xfrm>
          <a:prstGeom prst="rect">
            <a:avLst/>
          </a:prstGeom>
          <a:noFill/>
          <a:ln/>
        </p:spPr>
        <p:txBody>
          <a:bodyPr wrap="square" rtlCol="0" anchor="ctr"/>
          <a:lstStyle/>
          <a:p>
            <a:pPr indent="0" marL="0">
              <a:buNone/>
            </a:pPr>
            <a:r>
              <a:rPr lang="en-US" sz="700" dirty="0">
                <a:solidFill>
                  <a:srgbClr val="6E6A62"/>
                </a:solidFill>
                <a:latin typeface="Calibri" pitchFamily="34" charset="0"/>
                <a:ea typeface="Calibri" pitchFamily="34" charset="-122"/>
                <a:cs typeface="Calibri" pitchFamily="34" charset="-120"/>
              </a:rPr>
              <a:t>$189,541 / mo</a:t>
            </a:r>
            <a:endParaRPr lang="en-US" sz="700" dirty="0"/>
          </a:p>
        </p:txBody>
      </p:sp>
      <p:sp>
        <p:nvSpPr>
          <p:cNvPr id="50" name="Text 48"/>
          <p:cNvSpPr/>
          <p:nvPr/>
        </p:nvSpPr>
        <p:spPr>
          <a:xfrm>
            <a:off x="576072" y="3749040"/>
            <a:ext cx="1463040" cy="164592"/>
          </a:xfrm>
          <a:prstGeom prst="rect">
            <a:avLst/>
          </a:prstGeom>
          <a:noFill/>
          <a:ln/>
        </p:spPr>
        <p:txBody>
          <a:bodyPr wrap="square" rtlCol="0" anchor="ctr"/>
          <a:lstStyle/>
          <a:p>
            <a:pPr indent="0" marL="0">
              <a:buNone/>
            </a:pPr>
            <a:r>
              <a:rPr lang="en-US" sz="700" dirty="0">
                <a:solidFill>
                  <a:srgbClr val="6E6A62"/>
                </a:solidFill>
                <a:latin typeface="Calibri" pitchFamily="34" charset="0"/>
                <a:ea typeface="Calibri" pitchFamily="34" charset="-122"/>
                <a:cs typeface="Calibri" pitchFamily="34" charset="-120"/>
              </a:rPr>
              <a:t>$-160,061 / mo</a:t>
            </a:r>
            <a:endParaRPr lang="en-US" sz="700" dirty="0"/>
          </a:p>
        </p:txBody>
      </p:sp>
      <p:sp>
        <p:nvSpPr>
          <p:cNvPr id="51" name="Text 49"/>
          <p:cNvSpPr/>
          <p:nvPr/>
        </p:nvSpPr>
        <p:spPr>
          <a:xfrm>
            <a:off x="502920" y="4206240"/>
            <a:ext cx="8138160" cy="365760"/>
          </a:xfrm>
          <a:prstGeom prst="rect">
            <a:avLst/>
          </a:prstGeom>
          <a:noFill/>
          <a:ln/>
        </p:spPr>
        <p:txBody>
          <a:bodyPr wrap="square" rtlCol="0" anchor="ctr"/>
          <a:lstStyle/>
          <a:p>
            <a:pPr indent="0" marL="0">
              <a:buNone/>
            </a:pPr>
            <a:r>
              <a:rPr lang="en-US" sz="950" dirty="0">
                <a:solidFill>
                  <a:srgbClr val="A8A296"/>
                </a:solidFill>
                <a:latin typeface="Calibri" pitchFamily="34" charset="0"/>
                <a:ea typeface="Calibri" pitchFamily="34" charset="-122"/>
                <a:cs typeface="Calibri" pitchFamily="34" charset="-120"/>
              </a:rPr>
              <a:t>Cash trough -$607,422 at month 11, against a $1,054,800 working capital reserve funded inside use of funds.</a:t>
            </a:r>
            <a:endParaRPr lang="en-US" sz="950" dirty="0"/>
          </a:p>
        </p:txBody>
      </p:sp>
      <p:sp>
        <p:nvSpPr>
          <p:cNvPr id="52" name="Text 50"/>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53" name="Text 51"/>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STABILIZED P&amp;L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Monthly, at stabilization. Projected.</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138160" cy="914400"/>
        </p:xfrm>
        <a:graphic>
          <a:graphicData uri="http://schemas.openxmlformats.org/drawingml/2006/table">
            <a:tbl>
              <a:tblPr/>
              <a:tblGrid>
                <a:gridCol w="4480560"/>
                <a:gridCol w="1828800"/>
                <a:gridCol w="1828800"/>
              </a:tblGrid>
              <a:tr h="15544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Line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 of revenue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Total revenue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$731,666</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Cost of services delivered</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-$180,652</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Circuit consumables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-$18,760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Net after COGS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$532,254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73%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Rent (5,825 SF NNN)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-$32,038</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Clinical and club staff</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-$165,000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Admin and management</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-$30,000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Marketing and member acquisition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-$32,000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Malpractice and liability</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-$26,000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Equipment leases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-$29,175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Utilities, software, member platform</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Licensing, compliance and accreditation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-$10,000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Total fixed overhead</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-$342,713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47%</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OPERATING INCOME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$189,541</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26%</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SENSITIVITY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How wrong can we afford to be?</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Volume flexed against the base case with fixed overhead held constant, which is the conservative treatment.</a:t>
            </a:r>
            <a:endParaRPr lang="en-US" sz="1150" dirty="0"/>
          </a:p>
        </p:txBody>
      </p:sp>
      <p:sp>
        <p:nvSpPr>
          <p:cNvPr id="5" name="Shape 3"/>
          <p:cNvSpPr/>
          <p:nvPr/>
        </p:nvSpPr>
        <p:spPr>
          <a:xfrm>
            <a:off x="502920" y="1691640"/>
            <a:ext cx="2602992" cy="2468880"/>
          </a:xfrm>
          <a:prstGeom prst="roundRect">
            <a:avLst>
              <a:gd name="adj" fmla="val 2222"/>
            </a:avLst>
          </a:prstGeom>
          <a:solidFill>
            <a:srgbClr val="16241C"/>
          </a:solidFill>
          <a:ln w="12700">
            <a:solidFill>
              <a:srgbClr val="2E4237"/>
            </a:solidFill>
            <a:prstDash val="solid"/>
          </a:ln>
        </p:spPr>
      </p:sp>
      <p:sp>
        <p:nvSpPr>
          <p:cNvPr id="6" name="Text 4"/>
          <p:cNvSpPr/>
          <p:nvPr/>
        </p:nvSpPr>
        <p:spPr>
          <a:xfrm>
            <a:off x="649224" y="1810512"/>
            <a:ext cx="2310384" cy="182880"/>
          </a:xfrm>
          <a:prstGeom prst="rect">
            <a:avLst/>
          </a:prstGeom>
          <a:noFill/>
          <a:ln/>
        </p:spPr>
        <p:txBody>
          <a:bodyPr wrap="square" rtlCol="0" anchor="ctr"/>
          <a:lstStyle/>
          <a:p>
            <a:pPr indent="0" marL="0">
              <a:buNone/>
            </a:pPr>
            <a:r>
              <a:rPr lang="en-US" sz="850" spc="240" kern="0" dirty="0">
                <a:solidFill>
                  <a:srgbClr val="6E6A62"/>
                </a:solidFill>
                <a:latin typeface="Century Gothic" pitchFamily="34" charset="0"/>
                <a:ea typeface="Century Gothic" pitchFamily="34" charset="-122"/>
                <a:cs typeface="Century Gothic" pitchFamily="34" charset="-120"/>
              </a:rPr>
              <a:t>LOW</a:t>
            </a:r>
            <a:endParaRPr lang="en-US" sz="850" dirty="0"/>
          </a:p>
        </p:txBody>
      </p:sp>
      <p:sp>
        <p:nvSpPr>
          <p:cNvPr id="7" name="Text 5"/>
          <p:cNvSpPr/>
          <p:nvPr/>
        </p:nvSpPr>
        <p:spPr>
          <a:xfrm>
            <a:off x="649224" y="2011680"/>
            <a:ext cx="2310384" cy="365760"/>
          </a:xfrm>
          <a:prstGeom prst="rect">
            <a:avLst/>
          </a:prstGeom>
          <a:noFill/>
          <a:ln/>
        </p:spPr>
        <p:txBody>
          <a:bodyPr wrap="square" rtlCol="0" anchor="ctr"/>
          <a:lstStyle/>
          <a:p>
            <a:pPr indent="0" marL="0">
              <a:buNone/>
            </a:pPr>
            <a:r>
              <a:rPr lang="en-US" sz="1800" dirty="0">
                <a:solidFill>
                  <a:srgbClr val="EDE6DA"/>
                </a:solidFill>
                <a:latin typeface="Century Gothic" pitchFamily="34" charset="0"/>
                <a:ea typeface="Century Gothic" pitchFamily="34" charset="-122"/>
                <a:cs typeface="Century Gothic" pitchFamily="34" charset="-120"/>
              </a:rPr>
              <a:t>$0.49M / yr</a:t>
            </a:r>
            <a:endParaRPr lang="en-US" sz="1800" dirty="0"/>
          </a:p>
        </p:txBody>
      </p:sp>
      <p:sp>
        <p:nvSpPr>
          <p:cNvPr id="8" name="Text 6"/>
          <p:cNvSpPr/>
          <p:nvPr/>
        </p:nvSpPr>
        <p:spPr>
          <a:xfrm>
            <a:off x="649224"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Slow member ramp, 72% of base volume</a:t>
            </a:r>
            <a:endParaRPr lang="en-US" sz="850" dirty="0"/>
          </a:p>
        </p:txBody>
      </p:sp>
      <p:sp>
        <p:nvSpPr>
          <p:cNvPr id="9" name="Text 7"/>
          <p:cNvSpPr/>
          <p:nvPr/>
        </p:nvSpPr>
        <p:spPr>
          <a:xfrm>
            <a:off x="649224"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10" name="Text 8"/>
          <p:cNvSpPr/>
          <p:nvPr/>
        </p:nvSpPr>
        <p:spPr>
          <a:xfrm>
            <a:off x="1804416"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$526,800</a:t>
            </a:r>
            <a:endParaRPr lang="en-US" sz="900" dirty="0"/>
          </a:p>
        </p:txBody>
      </p:sp>
      <p:sp>
        <p:nvSpPr>
          <p:cNvPr id="11" name="Text 9"/>
          <p:cNvSpPr/>
          <p:nvPr/>
        </p:nvSpPr>
        <p:spPr>
          <a:xfrm>
            <a:off x="649224"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12" name="Text 10"/>
          <p:cNvSpPr/>
          <p:nvPr/>
        </p:nvSpPr>
        <p:spPr>
          <a:xfrm>
            <a:off x="1804416"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$383,223</a:t>
            </a:r>
            <a:endParaRPr lang="en-US" sz="900" dirty="0"/>
          </a:p>
        </p:txBody>
      </p:sp>
      <p:sp>
        <p:nvSpPr>
          <p:cNvPr id="13" name="Text 11"/>
          <p:cNvSpPr/>
          <p:nvPr/>
        </p:nvSpPr>
        <p:spPr>
          <a:xfrm>
            <a:off x="649224"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14" name="Text 12"/>
          <p:cNvSpPr/>
          <p:nvPr/>
        </p:nvSpPr>
        <p:spPr>
          <a:xfrm>
            <a:off x="1804416"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$40,510</a:t>
            </a:r>
            <a:endParaRPr lang="en-US" sz="900" dirty="0"/>
          </a:p>
        </p:txBody>
      </p:sp>
      <p:sp>
        <p:nvSpPr>
          <p:cNvPr id="15" name="Text 13"/>
          <p:cNvSpPr/>
          <p:nvPr/>
        </p:nvSpPr>
        <p:spPr>
          <a:xfrm>
            <a:off x="649224"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Yield on equity</a:t>
            </a:r>
            <a:endParaRPr lang="en-US" sz="900" dirty="0"/>
          </a:p>
        </p:txBody>
      </p:sp>
      <p:sp>
        <p:nvSpPr>
          <p:cNvPr id="16" name="Text 14"/>
          <p:cNvSpPr/>
          <p:nvPr/>
        </p:nvSpPr>
        <p:spPr>
          <a:xfrm>
            <a:off x="1804416"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9.7%</a:t>
            </a:r>
            <a:endParaRPr lang="en-US" sz="900" dirty="0"/>
          </a:p>
        </p:txBody>
      </p:sp>
      <p:sp>
        <p:nvSpPr>
          <p:cNvPr id="17" name="Shape 15"/>
          <p:cNvSpPr/>
          <p:nvPr/>
        </p:nvSpPr>
        <p:spPr>
          <a:xfrm>
            <a:off x="3270504" y="1691640"/>
            <a:ext cx="2602992" cy="2468880"/>
          </a:xfrm>
          <a:prstGeom prst="roundRect">
            <a:avLst>
              <a:gd name="adj" fmla="val 2222"/>
            </a:avLst>
          </a:prstGeom>
          <a:solidFill>
            <a:srgbClr val="241C1A"/>
          </a:solidFill>
          <a:ln w="19050">
            <a:solidFill>
              <a:srgbClr val="C08D7C"/>
            </a:solidFill>
            <a:prstDash val="solid"/>
          </a:ln>
        </p:spPr>
      </p:sp>
      <p:sp>
        <p:nvSpPr>
          <p:cNvPr id="18" name="Text 16"/>
          <p:cNvSpPr/>
          <p:nvPr/>
        </p:nvSpPr>
        <p:spPr>
          <a:xfrm>
            <a:off x="3416808" y="1810512"/>
            <a:ext cx="2310384" cy="182880"/>
          </a:xfrm>
          <a:prstGeom prst="rect">
            <a:avLst/>
          </a:prstGeom>
          <a:noFill/>
          <a:ln/>
        </p:spPr>
        <p:txBody>
          <a:bodyPr wrap="square" rtlCol="0" anchor="ctr"/>
          <a:lstStyle/>
          <a:p>
            <a:pPr indent="0" marL="0">
              <a:buNone/>
            </a:pPr>
            <a:r>
              <a:rPr lang="en-US" sz="850" spc="240" kern="0" dirty="0">
                <a:solidFill>
                  <a:srgbClr val="C08D7C"/>
                </a:solidFill>
                <a:latin typeface="Century Gothic" pitchFamily="34" charset="0"/>
                <a:ea typeface="Century Gothic" pitchFamily="34" charset="-122"/>
                <a:cs typeface="Century Gothic" pitchFamily="34" charset="-120"/>
              </a:rPr>
              <a:t>BASE</a:t>
            </a:r>
            <a:endParaRPr lang="en-US" sz="850" dirty="0"/>
          </a:p>
        </p:txBody>
      </p:sp>
      <p:sp>
        <p:nvSpPr>
          <p:cNvPr id="19" name="Text 17"/>
          <p:cNvSpPr/>
          <p:nvPr/>
        </p:nvSpPr>
        <p:spPr>
          <a:xfrm>
            <a:off x="3416808" y="2011680"/>
            <a:ext cx="2310384" cy="365760"/>
          </a:xfrm>
          <a:prstGeom prst="rect">
            <a:avLst/>
          </a:prstGeom>
          <a:noFill/>
          <a:ln/>
        </p:spPr>
        <p:txBody>
          <a:bodyPr wrap="square" rtlCol="0" anchor="ctr"/>
          <a:lstStyle/>
          <a:p>
            <a:pPr indent="0" marL="0">
              <a:buNone/>
            </a:pPr>
            <a:r>
              <a:rPr lang="en-US" sz="1800" dirty="0">
                <a:solidFill>
                  <a:srgbClr val="C08D7C"/>
                </a:solidFill>
                <a:latin typeface="Century Gothic" pitchFamily="34" charset="0"/>
                <a:ea typeface="Century Gothic" pitchFamily="34" charset="-122"/>
                <a:cs typeface="Century Gothic" pitchFamily="34" charset="-120"/>
              </a:rPr>
              <a:t>$2.27M / yr</a:t>
            </a:r>
            <a:endParaRPr lang="en-US" sz="1800" dirty="0"/>
          </a:p>
        </p:txBody>
      </p:sp>
      <p:sp>
        <p:nvSpPr>
          <p:cNvPr id="20" name="Text 18"/>
          <p:cNvSpPr/>
          <p:nvPr/>
        </p:nvSpPr>
        <p:spPr>
          <a:xfrm>
            <a:off x="3416808"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Stated assumptions at stabilization</a:t>
            </a:r>
            <a:endParaRPr lang="en-US" sz="850" dirty="0"/>
          </a:p>
        </p:txBody>
      </p:sp>
      <p:sp>
        <p:nvSpPr>
          <p:cNvPr id="21" name="Text 19"/>
          <p:cNvSpPr/>
          <p:nvPr/>
        </p:nvSpPr>
        <p:spPr>
          <a:xfrm>
            <a:off x="3416808"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22" name="Text 20"/>
          <p:cNvSpPr/>
          <p:nvPr/>
        </p:nvSpPr>
        <p:spPr>
          <a:xfrm>
            <a:off x="4572000"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$731,666</a:t>
            </a:r>
            <a:endParaRPr lang="en-US" sz="900" dirty="0"/>
          </a:p>
        </p:txBody>
      </p:sp>
      <p:sp>
        <p:nvSpPr>
          <p:cNvPr id="23" name="Text 21"/>
          <p:cNvSpPr/>
          <p:nvPr/>
        </p:nvSpPr>
        <p:spPr>
          <a:xfrm>
            <a:off x="3416808"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24" name="Text 22"/>
          <p:cNvSpPr/>
          <p:nvPr/>
        </p:nvSpPr>
        <p:spPr>
          <a:xfrm>
            <a:off x="4572000"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$532,254</a:t>
            </a:r>
            <a:endParaRPr lang="en-US" sz="900" dirty="0"/>
          </a:p>
        </p:txBody>
      </p:sp>
      <p:sp>
        <p:nvSpPr>
          <p:cNvPr id="25" name="Text 23"/>
          <p:cNvSpPr/>
          <p:nvPr/>
        </p:nvSpPr>
        <p:spPr>
          <a:xfrm>
            <a:off x="3416808"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26" name="Text 24"/>
          <p:cNvSpPr/>
          <p:nvPr/>
        </p:nvSpPr>
        <p:spPr>
          <a:xfrm>
            <a:off x="4572000"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$189,541</a:t>
            </a:r>
            <a:endParaRPr lang="en-US" sz="900" dirty="0"/>
          </a:p>
        </p:txBody>
      </p:sp>
      <p:sp>
        <p:nvSpPr>
          <p:cNvPr id="27" name="Text 25"/>
          <p:cNvSpPr/>
          <p:nvPr/>
        </p:nvSpPr>
        <p:spPr>
          <a:xfrm>
            <a:off x="3416808"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Yield on equity</a:t>
            </a:r>
            <a:endParaRPr lang="en-US" sz="900" dirty="0"/>
          </a:p>
        </p:txBody>
      </p:sp>
      <p:sp>
        <p:nvSpPr>
          <p:cNvPr id="28" name="Text 26"/>
          <p:cNvSpPr/>
          <p:nvPr/>
        </p:nvSpPr>
        <p:spPr>
          <a:xfrm>
            <a:off x="4572000"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45.5%</a:t>
            </a:r>
            <a:endParaRPr lang="en-US" sz="900" dirty="0"/>
          </a:p>
        </p:txBody>
      </p:sp>
      <p:sp>
        <p:nvSpPr>
          <p:cNvPr id="29" name="Shape 27"/>
          <p:cNvSpPr/>
          <p:nvPr/>
        </p:nvSpPr>
        <p:spPr>
          <a:xfrm>
            <a:off x="6038088" y="1691640"/>
            <a:ext cx="2602992" cy="2468880"/>
          </a:xfrm>
          <a:prstGeom prst="roundRect">
            <a:avLst>
              <a:gd name="adj" fmla="val 2222"/>
            </a:avLst>
          </a:prstGeom>
          <a:solidFill>
            <a:srgbClr val="16241C"/>
          </a:solidFill>
          <a:ln w="12700">
            <a:solidFill>
              <a:srgbClr val="2E4237"/>
            </a:solidFill>
            <a:prstDash val="solid"/>
          </a:ln>
        </p:spPr>
      </p:sp>
      <p:sp>
        <p:nvSpPr>
          <p:cNvPr id="30" name="Text 28"/>
          <p:cNvSpPr/>
          <p:nvPr/>
        </p:nvSpPr>
        <p:spPr>
          <a:xfrm>
            <a:off x="6184392" y="1810512"/>
            <a:ext cx="2310384" cy="182880"/>
          </a:xfrm>
          <a:prstGeom prst="rect">
            <a:avLst/>
          </a:prstGeom>
          <a:noFill/>
          <a:ln/>
        </p:spPr>
        <p:txBody>
          <a:bodyPr wrap="square" rtlCol="0" anchor="ctr"/>
          <a:lstStyle/>
          <a:p>
            <a:pPr indent="0" marL="0">
              <a:buNone/>
            </a:pPr>
            <a:r>
              <a:rPr lang="en-US" sz="850" spc="240" kern="0" dirty="0">
                <a:solidFill>
                  <a:srgbClr val="6E6A62"/>
                </a:solidFill>
                <a:latin typeface="Century Gothic" pitchFamily="34" charset="0"/>
                <a:ea typeface="Century Gothic" pitchFamily="34" charset="-122"/>
                <a:cs typeface="Century Gothic" pitchFamily="34" charset="-120"/>
              </a:rPr>
              <a:t>UPSIDE</a:t>
            </a:r>
            <a:endParaRPr lang="en-US" sz="850" dirty="0"/>
          </a:p>
        </p:txBody>
      </p:sp>
      <p:sp>
        <p:nvSpPr>
          <p:cNvPr id="31" name="Text 29"/>
          <p:cNvSpPr/>
          <p:nvPr/>
        </p:nvSpPr>
        <p:spPr>
          <a:xfrm>
            <a:off x="6184392" y="2011680"/>
            <a:ext cx="2310384" cy="365760"/>
          </a:xfrm>
          <a:prstGeom prst="rect">
            <a:avLst/>
          </a:prstGeom>
          <a:noFill/>
          <a:ln/>
        </p:spPr>
        <p:txBody>
          <a:bodyPr wrap="square" rtlCol="0" anchor="ctr"/>
          <a:lstStyle/>
          <a:p>
            <a:pPr indent="0" marL="0">
              <a:buNone/>
            </a:pPr>
            <a:r>
              <a:rPr lang="en-US" sz="1800" dirty="0">
                <a:solidFill>
                  <a:srgbClr val="EDE6DA"/>
                </a:solidFill>
                <a:latin typeface="Century Gothic" pitchFamily="34" charset="0"/>
                <a:ea typeface="Century Gothic" pitchFamily="34" charset="-122"/>
                <a:cs typeface="Century Gothic" pitchFamily="34" charset="-120"/>
              </a:rPr>
              <a:t>$4.06M / yr</a:t>
            </a:r>
            <a:endParaRPr lang="en-US" sz="1800" dirty="0"/>
          </a:p>
        </p:txBody>
      </p:sp>
      <p:sp>
        <p:nvSpPr>
          <p:cNvPr id="32" name="Text 30"/>
          <p:cNvSpPr/>
          <p:nvPr/>
        </p:nvSpPr>
        <p:spPr>
          <a:xfrm>
            <a:off x="6184392"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Waitlist demand, 128% of base volume</a:t>
            </a:r>
            <a:endParaRPr lang="en-US" sz="850" dirty="0"/>
          </a:p>
        </p:txBody>
      </p:sp>
      <p:sp>
        <p:nvSpPr>
          <p:cNvPr id="33" name="Text 31"/>
          <p:cNvSpPr/>
          <p:nvPr/>
        </p:nvSpPr>
        <p:spPr>
          <a:xfrm>
            <a:off x="6184392"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34" name="Text 32"/>
          <p:cNvSpPr/>
          <p:nvPr/>
        </p:nvSpPr>
        <p:spPr>
          <a:xfrm>
            <a:off x="7339584"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$936,533</a:t>
            </a:r>
            <a:endParaRPr lang="en-US" sz="900" dirty="0"/>
          </a:p>
        </p:txBody>
      </p:sp>
      <p:sp>
        <p:nvSpPr>
          <p:cNvPr id="35" name="Text 33"/>
          <p:cNvSpPr/>
          <p:nvPr/>
        </p:nvSpPr>
        <p:spPr>
          <a:xfrm>
            <a:off x="6184392"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36" name="Text 34"/>
          <p:cNvSpPr/>
          <p:nvPr/>
        </p:nvSpPr>
        <p:spPr>
          <a:xfrm>
            <a:off x="7339584"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$681,285</a:t>
            </a:r>
            <a:endParaRPr lang="en-US" sz="900" dirty="0"/>
          </a:p>
        </p:txBody>
      </p:sp>
      <p:sp>
        <p:nvSpPr>
          <p:cNvPr id="37" name="Text 35"/>
          <p:cNvSpPr/>
          <p:nvPr/>
        </p:nvSpPr>
        <p:spPr>
          <a:xfrm>
            <a:off x="6184392"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38" name="Text 36"/>
          <p:cNvSpPr/>
          <p:nvPr/>
        </p:nvSpPr>
        <p:spPr>
          <a:xfrm>
            <a:off x="7339584"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$338,573</a:t>
            </a:r>
            <a:endParaRPr lang="en-US" sz="900" dirty="0"/>
          </a:p>
        </p:txBody>
      </p:sp>
      <p:sp>
        <p:nvSpPr>
          <p:cNvPr id="39" name="Text 37"/>
          <p:cNvSpPr/>
          <p:nvPr/>
        </p:nvSpPr>
        <p:spPr>
          <a:xfrm>
            <a:off x="6184392"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Yield on equity</a:t>
            </a:r>
            <a:endParaRPr lang="en-US" sz="900" dirty="0"/>
          </a:p>
        </p:txBody>
      </p:sp>
      <p:sp>
        <p:nvSpPr>
          <p:cNvPr id="40" name="Text 38"/>
          <p:cNvSpPr/>
          <p:nvPr/>
        </p:nvSpPr>
        <p:spPr>
          <a:xfrm>
            <a:off x="7339584"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81.3%</a:t>
            </a:r>
            <a:endParaRPr lang="en-US" sz="900" dirty="0"/>
          </a:p>
        </p:txBody>
      </p:sp>
      <p:sp>
        <p:nvSpPr>
          <p:cNvPr id="41" name="Text 39"/>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42" name="Text 40"/>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ASK</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$5.0M of equity, no debt.</a:t>
            </a:r>
            <a:endParaRPr lang="en-US" sz="2600" dirty="0"/>
          </a:p>
        </p:txBody>
      </p:sp>
      <p:sp>
        <p:nvSpPr>
          <p:cNvPr id="4" name="Shape 2"/>
          <p:cNvSpPr/>
          <p:nvPr/>
        </p:nvSpPr>
        <p:spPr>
          <a:xfrm>
            <a:off x="502920" y="1417320"/>
            <a:ext cx="8138160" cy="2423160"/>
          </a:xfrm>
          <a:prstGeom prst="roundRect">
            <a:avLst>
              <a:gd name="adj" fmla="val 2264"/>
            </a:avLst>
          </a:prstGeom>
          <a:solidFill>
            <a:srgbClr val="241C1A"/>
          </a:solidFill>
          <a:ln w="15875">
            <a:solidFill>
              <a:srgbClr val="C08D7C"/>
            </a:solidFill>
            <a:prstDash val="solid"/>
          </a:ln>
        </p:spPr>
      </p:sp>
      <p:sp>
        <p:nvSpPr>
          <p:cNvPr id="5" name="Text 3"/>
          <p:cNvSpPr/>
          <p:nvPr/>
        </p:nvSpPr>
        <p:spPr>
          <a:xfrm>
            <a:off x="777240" y="1600200"/>
            <a:ext cx="7589520" cy="914400"/>
          </a:xfrm>
          <a:prstGeom prst="rect">
            <a:avLst/>
          </a:prstGeom>
          <a:noFill/>
          <a:ln/>
        </p:spPr>
        <p:txBody>
          <a:bodyPr wrap="square" rtlCol="0" anchor="ctr"/>
          <a:lstStyle/>
          <a:p>
            <a:pPr indent="0" marL="0">
              <a:buNone/>
            </a:pPr>
            <a:r>
              <a:rPr lang="en-US" sz="5200" dirty="0">
                <a:solidFill>
                  <a:srgbClr val="C08D7C"/>
                </a:solidFill>
                <a:latin typeface="Century Gothic" pitchFamily="34" charset="0"/>
                <a:ea typeface="Century Gothic" pitchFamily="34" charset="-122"/>
                <a:cs typeface="Century Gothic" pitchFamily="34" charset="-120"/>
              </a:rPr>
              <a:t>$5.0M</a:t>
            </a:r>
            <a:endParaRPr lang="en-US" sz="5200" dirty="0"/>
          </a:p>
        </p:txBody>
      </p:sp>
      <p:sp>
        <p:nvSpPr>
          <p:cNvPr id="6" name="Text 4"/>
          <p:cNvSpPr/>
          <p:nvPr/>
        </p:nvSpPr>
        <p:spPr>
          <a:xfrm>
            <a:off x="795528" y="2578608"/>
            <a:ext cx="7552944" cy="320040"/>
          </a:xfrm>
          <a:prstGeom prst="rect">
            <a:avLst/>
          </a:prstGeom>
          <a:noFill/>
          <a:ln/>
        </p:spPr>
        <p:txBody>
          <a:bodyPr wrap="square" rtlCol="0" anchor="ctr"/>
          <a:lstStyle/>
          <a:p>
            <a:pPr indent="0" marL="0">
              <a:buNone/>
            </a:pPr>
            <a:r>
              <a:rPr lang="en-US" sz="1150" dirty="0">
                <a:solidFill>
                  <a:srgbClr val="A8A296"/>
                </a:solidFill>
                <a:latin typeface="Calibri" pitchFamily="34" charset="0"/>
                <a:ea typeface="Calibri" pitchFamily="34" charset="-122"/>
                <a:cs typeface="Calibri" pitchFamily="34" charset="-120"/>
              </a:rPr>
              <a:t>Everything in the ample case, plus one accredited office-based surgery suite.</a:t>
            </a:r>
            <a:endParaRPr lang="en-US" sz="1150" dirty="0"/>
          </a:p>
        </p:txBody>
      </p:sp>
      <p:sp>
        <p:nvSpPr>
          <p:cNvPr id="7" name="Text 5"/>
          <p:cNvSpPr/>
          <p:nvPr/>
        </p:nvSpPr>
        <p:spPr>
          <a:xfrm>
            <a:off x="795528"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TOTAL RAISE</a:t>
            </a:r>
            <a:endParaRPr lang="en-US" sz="700" dirty="0"/>
          </a:p>
        </p:txBody>
      </p:sp>
      <p:sp>
        <p:nvSpPr>
          <p:cNvPr id="8" name="Text 6"/>
          <p:cNvSpPr/>
          <p:nvPr/>
        </p:nvSpPr>
        <p:spPr>
          <a:xfrm>
            <a:off x="795528"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$5,000,000</a:t>
            </a:r>
            <a:endParaRPr lang="en-US" sz="1400" dirty="0"/>
          </a:p>
        </p:txBody>
      </p:sp>
      <p:sp>
        <p:nvSpPr>
          <p:cNvPr id="9" name="Text 7"/>
          <p:cNvSpPr/>
          <p:nvPr/>
        </p:nvSpPr>
        <p:spPr>
          <a:xfrm>
            <a:off x="2683764"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OPERATING INCOME</a:t>
            </a:r>
            <a:endParaRPr lang="en-US" sz="700" dirty="0"/>
          </a:p>
        </p:txBody>
      </p:sp>
      <p:sp>
        <p:nvSpPr>
          <p:cNvPr id="10" name="Text 8"/>
          <p:cNvSpPr/>
          <p:nvPr/>
        </p:nvSpPr>
        <p:spPr>
          <a:xfrm>
            <a:off x="2683764"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$189,541 /mo</a:t>
            </a:r>
            <a:endParaRPr lang="en-US" sz="1400" dirty="0"/>
          </a:p>
        </p:txBody>
      </p:sp>
      <p:sp>
        <p:nvSpPr>
          <p:cNvPr id="11" name="Text 9"/>
          <p:cNvSpPr/>
          <p:nvPr/>
        </p:nvSpPr>
        <p:spPr>
          <a:xfrm>
            <a:off x="4572000"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UNLEVERED YIELD</a:t>
            </a:r>
            <a:endParaRPr lang="en-US" sz="700" dirty="0"/>
          </a:p>
        </p:txBody>
      </p:sp>
      <p:sp>
        <p:nvSpPr>
          <p:cNvPr id="12" name="Text 10"/>
          <p:cNvSpPr/>
          <p:nvPr/>
        </p:nvSpPr>
        <p:spPr>
          <a:xfrm>
            <a:off x="4572000"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45.5%</a:t>
            </a:r>
            <a:endParaRPr lang="en-US" sz="1400" dirty="0"/>
          </a:p>
        </p:txBody>
      </p:sp>
      <p:sp>
        <p:nvSpPr>
          <p:cNvPr id="13" name="Text 11"/>
          <p:cNvSpPr/>
          <p:nvPr/>
        </p:nvSpPr>
        <p:spPr>
          <a:xfrm>
            <a:off x="6460236"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FOOTPRINT</a:t>
            </a:r>
            <a:endParaRPr lang="en-US" sz="700" dirty="0"/>
          </a:p>
        </p:txBody>
      </p:sp>
      <p:sp>
        <p:nvSpPr>
          <p:cNvPr id="14" name="Text 12"/>
          <p:cNvSpPr/>
          <p:nvPr/>
        </p:nvSpPr>
        <p:spPr>
          <a:xfrm>
            <a:off x="6460236"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5,825 SF</a:t>
            </a:r>
            <a:endParaRPr lang="en-US" sz="1400" dirty="0"/>
          </a:p>
        </p:txBody>
      </p:sp>
      <p:sp>
        <p:nvSpPr>
          <p:cNvPr id="15" name="Text 13"/>
          <p:cNvSpPr/>
          <p:nvPr/>
        </p:nvSpPr>
        <p:spPr>
          <a:xfrm>
            <a:off x="502920" y="4041648"/>
            <a:ext cx="8138160" cy="411480"/>
          </a:xfrm>
          <a:prstGeom prst="rect">
            <a:avLst/>
          </a:prstGeom>
          <a:noFill/>
          <a:ln/>
        </p:spPr>
        <p:txBody>
          <a:bodyPr wrap="square" rtlCol="0" anchor="ctr"/>
          <a:lstStyle/>
          <a:p>
            <a:pPr indent="0" marL="0">
              <a:lnSpc>
                <a:spcPct val="115000"/>
              </a:lnSpc>
              <a:buNone/>
            </a:pPr>
            <a:r>
              <a:rPr lang="en-US" sz="900" dirty="0">
                <a:solidFill>
                  <a:srgbClr val="6E6A62"/>
                </a:solidFill>
                <a:latin typeface="Calibri" pitchFamily="34" charset="0"/>
                <a:ea typeface="Calibri" pitchFamily="34" charset="-122"/>
                <a:cs typeface="Calibri" pitchFamily="34" charset="-120"/>
              </a:rPr>
              <a:t>The whole project is funded with equity. No lender sits ahead of the investor, there is no debt service against operating income and no covenant to breach. Yield is stated before tax and before any distribution policy, and is defined on the capital page.</a:t>
            </a:r>
            <a:endParaRPr lang="en-US" sz="90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Where the $5.0M goes.</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working capital reserve is sized against the modeled cash trough of $607,422 at month 11, not to a round number.</a:t>
            </a:r>
            <a:endParaRPr lang="en-US" sz="11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4937760"/>
                <a:gridCol w="1600200"/>
                <a:gridCol w="1600200"/>
              </a:tblGrid>
              <a:tr h="18288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Use of funds</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Amount</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 of project</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Buildout and tenant improvements (4,925 SF clinic and club @ $250/SF)</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$1,231,250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Surgical suite buildout (900 SF @ $320/SF, OR-grade HVAC and finishes)</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$288,000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gas, emergency power, life-safety branch for the suite</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Wet areas: 2 saunas, 2 plunges, steam, drainage, ventilation</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$465,000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and aesthetic equipment (purchased)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$450,000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Surgical capital equipment (balance leased)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Recovery technology: HBOT purchased, Ammortal deposit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$165,950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GE iDXA bone densitometer, purchased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FF&amp;E, lounge, millwork, retail</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Pre-opening: licensing, legal, insurance, hiring, transfer agreement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$310,000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Accreditation: Quad A survey, policies, QA/PI program, staff training</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$110,000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Brand, launch, founding member campaign</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Working capital reserve</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$1,054,800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21%</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 project cost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$5,000,000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CAPITAL AND RETURNS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Funded entirely with equity.</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4023360" cy="914400"/>
        </p:xfrm>
        <a:graphic>
          <a:graphicData uri="http://schemas.openxmlformats.org/drawingml/2006/table">
            <a:tbl>
              <a:tblPr/>
              <a:tblGrid>
                <a:gridCol w="2514600"/>
                <a:gridCol w="1508760"/>
              </a:tblGrid>
              <a:tr h="20574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Capital structure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Value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Total project cost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$5,000,000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Equity raised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$5,000,000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Senior debt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Working capital reserve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$1,054,800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Modeled cash trough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$607,422 at month 11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Operating income, stabilized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$189,541 /mo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Unlevered yield on equity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45.5%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Equity payback</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month 46, extrapolated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4800600" y="1371600"/>
          <a:ext cx="3840480" cy="914400"/>
        </p:xfrm>
        <a:graphic>
          <a:graphicData uri="http://schemas.openxmlformats.org/drawingml/2006/table">
            <a:tbl>
              <a:tblPr/>
              <a:tblGrid>
                <a:gridCol w="822960"/>
                <a:gridCol w="1508760"/>
                <a:gridCol w="150876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Year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Operating income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Cumulative cash</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-$1,131,837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-$591,839</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$1,532,775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$940,936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$2,213,843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$3,154,780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Stabilized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$2,274,497 /yr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$3,154,780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2"/>
          <p:cNvSpPr/>
          <p:nvPr/>
        </p:nvSpPr>
        <p:spPr>
          <a:xfrm>
            <a:off x="4800600" y="2788920"/>
            <a:ext cx="3977640" cy="868680"/>
          </a:xfrm>
          <a:prstGeom prst="rect">
            <a:avLst/>
          </a:prstGeom>
          <a:noFill/>
          <a:ln/>
        </p:spPr>
        <p:txBody>
          <a:bodyPr wrap="square" rtlCol="0" anchor="t"/>
          <a:lstStyle/>
          <a:p>
            <a:pPr indent="0" marL="0">
              <a:lnSpc>
                <a:spcPct val="115000"/>
              </a:lnSpc>
              <a:buNone/>
            </a:pPr>
            <a:r>
              <a:rPr lang="en-US" sz="850" dirty="0">
                <a:solidFill>
                  <a:srgbClr val="A8A296"/>
                </a:solidFill>
                <a:latin typeface="Calibri" pitchFamily="34" charset="0"/>
                <a:ea typeface="Calibri" pitchFamily="34" charset="-122"/>
                <a:cs typeface="Calibri" pitchFamily="34" charset="-120"/>
              </a:rPr>
              <a:t>Cumulative cash includes the $540,000 of founding-member prepayments collected during construction, which is why Year 1 ends positive on a negative operating year. Payback past month 36 is extrapolated at the stabilized run rate.</a:t>
            </a:r>
            <a:endParaRPr lang="en-US" sz="850" dirty="0"/>
          </a:p>
        </p:txBody>
      </p:sp>
      <p:sp>
        <p:nvSpPr>
          <p:cNvPr id="7" name="Text 3"/>
          <p:cNvSpPr/>
          <p:nvPr/>
        </p:nvSpPr>
        <p:spPr>
          <a:xfrm>
            <a:off x="502920" y="3794760"/>
            <a:ext cx="8138160" cy="777240"/>
          </a:xfrm>
          <a:prstGeom prst="rect">
            <a:avLst/>
          </a:prstGeom>
          <a:noFill/>
          <a:ln/>
        </p:spPr>
        <p:txBody>
          <a:bodyPr wrap="square" rtlCol="0" anchor="t"/>
          <a:lstStyle/>
          <a:p>
            <a:pPr indent="0" marL="0">
              <a:lnSpc>
                <a:spcPct val="120000"/>
              </a:lnSpc>
              <a:buNone/>
            </a:pPr>
            <a:r>
              <a:rPr lang="en-US" sz="800" dirty="0">
                <a:solidFill>
                  <a:srgbClr val="6E6A62"/>
                </a:solidFill>
                <a:latin typeface="Calibri" pitchFamily="34" charset="0"/>
                <a:ea typeface="Calibri" pitchFamily="34" charset="-122"/>
                <a:cs typeface="Calibri" pitchFamily="34" charset="-120"/>
              </a:rPr>
              <a:t>Unlevered yield on equity is stabilized annual operating income divided by the amount raised. It is stated before tax, before any distribution policy, before maintenance capital and before any assumption about a sale, so it is not an investor return. No internal rate of return or exit multiple appears in this deck, because nothing in this model supports a terminal value we could source.</a:t>
            </a:r>
            <a:endParaRPr lang="en-US" sz="800" dirty="0"/>
          </a:p>
        </p:txBody>
      </p:sp>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DISCLOSURES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we are flagging before you ask.</a:t>
            </a:r>
            <a:endParaRPr lang="en-US" sz="2600" dirty="0"/>
          </a:p>
        </p:txBody>
      </p:sp>
      <p:sp>
        <p:nvSpPr>
          <p:cNvPr id="4" name="Text 2"/>
          <p:cNvSpPr/>
          <p:nvPr/>
        </p:nvSpPr>
        <p:spPr>
          <a:xfrm>
            <a:off x="502920" y="1417320"/>
            <a:ext cx="8138160" cy="3108960"/>
          </a:xfrm>
          <a:prstGeom prst="rect">
            <a:avLst/>
          </a:prstGeom>
          <a:noFill/>
          <a:ln/>
        </p:spPr>
        <p:txBody>
          <a:bodyPr wrap="square" rtlCol="0" anchor="ctr"/>
          <a:lstStyle/>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Year 1 operating income is negative. Six of those months are construction and the rest are the opening ramp. There is no debt service to carry through it, and the $1,054,800 working capital reserve inside use of funds is sized against a modeled cash trough of $607,422 at month 11.</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The reserve covers the modeled trough 1.7 times over, sized against that trough rather than to a round number.</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Every dollar of operating income accrues to the equity, because there is no lender to share it with. The other side of that is the absence of leverage: the same business financed with debt would put less cash at risk for the same operating income, and would also put a lender ahead of the investor.</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Volume is flexed to 72% of base in the low case and the business still produces $0.49M of annual operating income, with fixed overhead held constant. That is the conservative treatment: in a genuine downside you would cut staff before you cut the lease.</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All forward-looking figures are projections on the stated assumptions and are not guarantees. Market and demographic figures carry their sources; anything unsourced was cut rather than estimated.</a:t>
            </a:r>
            <a:endParaRPr lang="en-US" sz="1050" dirty="0"/>
          </a:p>
        </p:txBody>
      </p:sp>
      <p:sp>
        <p:nvSpPr>
          <p:cNvPr id="5"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6"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TIMELINE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From signature to stabilization.</a:t>
            </a:r>
            <a:endParaRPr lang="en-US" sz="2600" dirty="0"/>
          </a:p>
        </p:txBody>
      </p:sp>
      <p:sp>
        <p:nvSpPr>
          <p:cNvPr id="4" name="Shape 2"/>
          <p:cNvSpPr/>
          <p:nvPr/>
        </p:nvSpPr>
        <p:spPr>
          <a:xfrm>
            <a:off x="502920" y="1600200"/>
            <a:ext cx="1525219" cy="25603"/>
          </a:xfrm>
          <a:prstGeom prst="rect">
            <a:avLst/>
          </a:prstGeom>
          <a:solidFill>
            <a:srgbClr val="2E4237"/>
          </a:solidFill>
          <a:ln w="12700">
            <a:solidFill>
              <a:srgbClr val="2E4237"/>
            </a:solidFill>
            <a:prstDash val="solid"/>
          </a:ln>
        </p:spPr>
      </p:sp>
      <p:sp>
        <p:nvSpPr>
          <p:cNvPr id="5" name="Shape 3"/>
          <p:cNvSpPr/>
          <p:nvPr/>
        </p:nvSpPr>
        <p:spPr>
          <a:xfrm>
            <a:off x="502920" y="1563624"/>
            <a:ext cx="100584" cy="100584"/>
          </a:xfrm>
          <a:prstGeom prst="ellipse">
            <a:avLst/>
          </a:prstGeom>
          <a:solidFill>
            <a:srgbClr val="C08D7C"/>
          </a:solidFill>
          <a:ln w="12700">
            <a:solidFill>
              <a:srgbClr val="C08D7C"/>
            </a:solidFill>
            <a:prstDash val="solid"/>
          </a:ln>
        </p:spPr>
      </p:sp>
      <p:sp>
        <p:nvSpPr>
          <p:cNvPr id="6" name="Text 4"/>
          <p:cNvSpPr/>
          <p:nvPr/>
        </p:nvSpPr>
        <p:spPr>
          <a:xfrm>
            <a:off x="502920"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0–3</a:t>
            </a:r>
            <a:endParaRPr lang="en-US" sz="750" dirty="0"/>
          </a:p>
        </p:txBody>
      </p:sp>
      <p:sp>
        <p:nvSpPr>
          <p:cNvPr id="7" name="Text 5"/>
          <p:cNvSpPr/>
          <p:nvPr/>
        </p:nvSpPr>
        <p:spPr>
          <a:xfrm>
            <a:off x="502920"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Close and design</a:t>
            </a:r>
            <a:endParaRPr lang="en-US" sz="1150" dirty="0"/>
          </a:p>
        </p:txBody>
      </p:sp>
      <p:sp>
        <p:nvSpPr>
          <p:cNvPr id="8" name="Text 6"/>
          <p:cNvSpPr/>
          <p:nvPr/>
        </p:nvSpPr>
        <p:spPr>
          <a:xfrm>
            <a:off x="502920"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Funds close, lease executed, architect and contractor engaged, permits filed. Founding member campaign opens.</a:t>
            </a:r>
            <a:endParaRPr lang="en-US" sz="850" dirty="0"/>
          </a:p>
        </p:txBody>
      </p:sp>
      <p:sp>
        <p:nvSpPr>
          <p:cNvPr id="9" name="Shape 7"/>
          <p:cNvSpPr/>
          <p:nvPr/>
        </p:nvSpPr>
        <p:spPr>
          <a:xfrm>
            <a:off x="2156155" y="1600200"/>
            <a:ext cx="1525219" cy="25603"/>
          </a:xfrm>
          <a:prstGeom prst="rect">
            <a:avLst/>
          </a:prstGeom>
          <a:solidFill>
            <a:srgbClr val="2E4237"/>
          </a:solidFill>
          <a:ln w="12700">
            <a:solidFill>
              <a:srgbClr val="2E4237"/>
            </a:solidFill>
            <a:prstDash val="solid"/>
          </a:ln>
        </p:spPr>
      </p:sp>
      <p:sp>
        <p:nvSpPr>
          <p:cNvPr id="10" name="Shape 8"/>
          <p:cNvSpPr/>
          <p:nvPr/>
        </p:nvSpPr>
        <p:spPr>
          <a:xfrm>
            <a:off x="2156155" y="1563624"/>
            <a:ext cx="100584" cy="100584"/>
          </a:xfrm>
          <a:prstGeom prst="ellipse">
            <a:avLst/>
          </a:prstGeom>
          <a:solidFill>
            <a:srgbClr val="C08D7C"/>
          </a:solidFill>
          <a:ln w="12700">
            <a:solidFill>
              <a:srgbClr val="C08D7C"/>
            </a:solidFill>
            <a:prstDash val="solid"/>
          </a:ln>
        </p:spPr>
      </p:sp>
      <p:sp>
        <p:nvSpPr>
          <p:cNvPr id="11" name="Text 9"/>
          <p:cNvSpPr/>
          <p:nvPr/>
        </p:nvSpPr>
        <p:spPr>
          <a:xfrm>
            <a:off x="2156155"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3–6</a:t>
            </a:r>
            <a:endParaRPr lang="en-US" sz="750" dirty="0"/>
          </a:p>
        </p:txBody>
      </p:sp>
      <p:sp>
        <p:nvSpPr>
          <p:cNvPr id="12" name="Text 10"/>
          <p:cNvSpPr/>
          <p:nvPr/>
        </p:nvSpPr>
        <p:spPr>
          <a:xfrm>
            <a:off x="2156155"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Build</a:t>
            </a:r>
            <a:endParaRPr lang="en-US" sz="1150" dirty="0"/>
          </a:p>
        </p:txBody>
      </p:sp>
      <p:sp>
        <p:nvSpPr>
          <p:cNvPr id="13" name="Text 11"/>
          <p:cNvSpPr/>
          <p:nvPr/>
        </p:nvSpPr>
        <p:spPr>
          <a:xfrm>
            <a:off x="2156155"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Buildout, wet-area rough-in, equipment ordered. Medical director and injector recruited and credentialed.</a:t>
            </a:r>
            <a:endParaRPr lang="en-US" sz="850" dirty="0"/>
          </a:p>
        </p:txBody>
      </p:sp>
      <p:sp>
        <p:nvSpPr>
          <p:cNvPr id="14" name="Shape 12"/>
          <p:cNvSpPr/>
          <p:nvPr/>
        </p:nvSpPr>
        <p:spPr>
          <a:xfrm>
            <a:off x="3809390" y="1600200"/>
            <a:ext cx="1525219" cy="25603"/>
          </a:xfrm>
          <a:prstGeom prst="rect">
            <a:avLst/>
          </a:prstGeom>
          <a:solidFill>
            <a:srgbClr val="2E4237"/>
          </a:solidFill>
          <a:ln w="12700">
            <a:solidFill>
              <a:srgbClr val="2E4237"/>
            </a:solidFill>
            <a:prstDash val="solid"/>
          </a:ln>
        </p:spPr>
      </p:sp>
      <p:sp>
        <p:nvSpPr>
          <p:cNvPr id="15" name="Shape 13"/>
          <p:cNvSpPr/>
          <p:nvPr/>
        </p:nvSpPr>
        <p:spPr>
          <a:xfrm>
            <a:off x="3809390" y="1563624"/>
            <a:ext cx="100584" cy="100584"/>
          </a:xfrm>
          <a:prstGeom prst="ellipse">
            <a:avLst/>
          </a:prstGeom>
          <a:solidFill>
            <a:srgbClr val="C08D7C"/>
          </a:solidFill>
          <a:ln w="12700">
            <a:solidFill>
              <a:srgbClr val="C08D7C"/>
            </a:solidFill>
            <a:prstDash val="solid"/>
          </a:ln>
        </p:spPr>
      </p:sp>
      <p:sp>
        <p:nvSpPr>
          <p:cNvPr id="16" name="Text 14"/>
          <p:cNvSpPr/>
          <p:nvPr/>
        </p:nvSpPr>
        <p:spPr>
          <a:xfrm>
            <a:off x="3809390"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7</a:t>
            </a:r>
            <a:endParaRPr lang="en-US" sz="750" dirty="0"/>
          </a:p>
        </p:txBody>
      </p:sp>
      <p:sp>
        <p:nvSpPr>
          <p:cNvPr id="17" name="Text 15"/>
          <p:cNvSpPr/>
          <p:nvPr/>
        </p:nvSpPr>
        <p:spPr>
          <a:xfrm>
            <a:off x="3809390"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Open</a:t>
            </a:r>
            <a:endParaRPr lang="en-US" sz="1150" dirty="0"/>
          </a:p>
        </p:txBody>
      </p:sp>
      <p:sp>
        <p:nvSpPr>
          <p:cNvPr id="18" name="Text 16"/>
          <p:cNvSpPr/>
          <p:nvPr/>
        </p:nvSpPr>
        <p:spPr>
          <a:xfrm>
            <a:off x="3809390"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Doors open to founding members first, public booking the same week. Clinic and club launch together.</a:t>
            </a:r>
            <a:endParaRPr lang="en-US" sz="850" dirty="0"/>
          </a:p>
        </p:txBody>
      </p:sp>
      <p:sp>
        <p:nvSpPr>
          <p:cNvPr id="19" name="Shape 17"/>
          <p:cNvSpPr/>
          <p:nvPr/>
        </p:nvSpPr>
        <p:spPr>
          <a:xfrm>
            <a:off x="5462626" y="1600200"/>
            <a:ext cx="1525219" cy="25603"/>
          </a:xfrm>
          <a:prstGeom prst="rect">
            <a:avLst/>
          </a:prstGeom>
          <a:solidFill>
            <a:srgbClr val="2E4237"/>
          </a:solidFill>
          <a:ln w="12700">
            <a:solidFill>
              <a:srgbClr val="2E4237"/>
            </a:solidFill>
            <a:prstDash val="solid"/>
          </a:ln>
        </p:spPr>
      </p:sp>
      <p:sp>
        <p:nvSpPr>
          <p:cNvPr id="20" name="Shape 18"/>
          <p:cNvSpPr/>
          <p:nvPr/>
        </p:nvSpPr>
        <p:spPr>
          <a:xfrm>
            <a:off x="5462626" y="1563624"/>
            <a:ext cx="100584" cy="100584"/>
          </a:xfrm>
          <a:prstGeom prst="ellipse">
            <a:avLst/>
          </a:prstGeom>
          <a:solidFill>
            <a:srgbClr val="C08D7C"/>
          </a:solidFill>
          <a:ln w="12700">
            <a:solidFill>
              <a:srgbClr val="C08D7C"/>
            </a:solidFill>
            <a:prstDash val="solid"/>
          </a:ln>
        </p:spPr>
      </p:sp>
      <p:sp>
        <p:nvSpPr>
          <p:cNvPr id="21" name="Text 19"/>
          <p:cNvSpPr/>
          <p:nvPr/>
        </p:nvSpPr>
        <p:spPr>
          <a:xfrm>
            <a:off x="5462626"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8–14</a:t>
            </a:r>
            <a:endParaRPr lang="en-US" sz="750" dirty="0"/>
          </a:p>
        </p:txBody>
      </p:sp>
      <p:sp>
        <p:nvSpPr>
          <p:cNvPr id="22" name="Text 20"/>
          <p:cNvSpPr/>
          <p:nvPr/>
        </p:nvSpPr>
        <p:spPr>
          <a:xfrm>
            <a:off x="5462626"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Fill</a:t>
            </a:r>
            <a:endParaRPr lang="en-US" sz="1150" dirty="0"/>
          </a:p>
        </p:txBody>
      </p:sp>
      <p:sp>
        <p:nvSpPr>
          <p:cNvPr id="23" name="Text 21"/>
          <p:cNvSpPr/>
          <p:nvPr/>
        </p:nvSpPr>
        <p:spPr>
          <a:xfrm>
            <a:off x="5462626"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Membership ramp, events programming, referral engine from the open clinic. Operating breakeven lands here.</a:t>
            </a:r>
            <a:endParaRPr lang="en-US" sz="850" dirty="0"/>
          </a:p>
        </p:txBody>
      </p:sp>
      <p:sp>
        <p:nvSpPr>
          <p:cNvPr id="24" name="Shape 22"/>
          <p:cNvSpPr/>
          <p:nvPr/>
        </p:nvSpPr>
        <p:spPr>
          <a:xfrm>
            <a:off x="7115861" y="1600200"/>
            <a:ext cx="1525219" cy="25603"/>
          </a:xfrm>
          <a:prstGeom prst="rect">
            <a:avLst/>
          </a:prstGeom>
          <a:solidFill>
            <a:srgbClr val="2E4237"/>
          </a:solidFill>
          <a:ln w="12700">
            <a:solidFill>
              <a:srgbClr val="2E4237"/>
            </a:solidFill>
            <a:prstDash val="solid"/>
          </a:ln>
        </p:spPr>
      </p:sp>
      <p:sp>
        <p:nvSpPr>
          <p:cNvPr id="25" name="Shape 23"/>
          <p:cNvSpPr/>
          <p:nvPr/>
        </p:nvSpPr>
        <p:spPr>
          <a:xfrm>
            <a:off x="7115861" y="1563624"/>
            <a:ext cx="100584" cy="100584"/>
          </a:xfrm>
          <a:prstGeom prst="ellipse">
            <a:avLst/>
          </a:prstGeom>
          <a:solidFill>
            <a:srgbClr val="C08D7C"/>
          </a:solidFill>
          <a:ln w="12700">
            <a:solidFill>
              <a:srgbClr val="C08D7C"/>
            </a:solidFill>
            <a:prstDash val="solid"/>
          </a:ln>
        </p:spPr>
      </p:sp>
      <p:sp>
        <p:nvSpPr>
          <p:cNvPr id="26" name="Text 24"/>
          <p:cNvSpPr/>
          <p:nvPr/>
        </p:nvSpPr>
        <p:spPr>
          <a:xfrm>
            <a:off x="7115861"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15–36</a:t>
            </a:r>
            <a:endParaRPr lang="en-US" sz="750" dirty="0"/>
          </a:p>
        </p:txBody>
      </p:sp>
      <p:sp>
        <p:nvSpPr>
          <p:cNvPr id="27" name="Text 25"/>
          <p:cNvSpPr/>
          <p:nvPr/>
        </p:nvSpPr>
        <p:spPr>
          <a:xfrm>
            <a:off x="7115861"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Stabilize</a:t>
            </a:r>
            <a:endParaRPr lang="en-US" sz="1150" dirty="0"/>
          </a:p>
        </p:txBody>
      </p:sp>
      <p:sp>
        <p:nvSpPr>
          <p:cNvPr id="28" name="Text 26"/>
          <p:cNvSpPr/>
          <p:nvPr/>
        </p:nvSpPr>
        <p:spPr>
          <a:xfrm>
            <a:off x="7115861"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Caps approached on Resident and Longevity. Waitlist opens.</a:t>
            </a:r>
            <a:endParaRPr lang="en-US" sz="850" dirty="0"/>
          </a:p>
        </p:txBody>
      </p:sp>
      <p:sp>
        <p:nvSpPr>
          <p:cNvPr id="29" name="Text 2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30" name="Text 2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TEAM</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operating team is in place.</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Clinical, aesthetic, longevity and hospitality leadership are all seated. No key role is open at opening.</a:t>
            </a:r>
            <a:endParaRPr lang="en-US" sz="11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2651760"/>
                <a:gridCol w="3840480"/>
                <a:gridCol w="1645920"/>
              </a:tblGrid>
              <a:tr h="292608">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Seat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Responsibility</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Status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Founder &amp; Operator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Operations, brand, capital, compliance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Medical Director (MD/DO)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Clinical oversight, protocols, standing orders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Surgeon (plastic or facial plastic) · Principal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Operative cases, patient selection, surgical QA. Bills professional fees directly, not facility payroll.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Surgical Tech, Circulator and Monitoring RN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OR setup, sterile field, sedation monitoring, PACU, instrument processing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Aesthetics Injector (NP or PA)</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Neuromodulators, filler, energy devices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Longevity Clinical Lead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Therapeutic medications, GLP-1 and biomarker programs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Club General Manager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Membership, events, hospitality, retention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Registered Nurses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therapy, regenerative, recovery floor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27</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RISKS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could go wrong, and what we did about it.</a:t>
            </a:r>
            <a:endParaRPr lang="en-US" sz="2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8138160" cy="914400"/>
        </p:xfrm>
        <a:graphic>
          <a:graphicData uri="http://schemas.openxmlformats.org/drawingml/2006/table">
            <a:tbl>
              <a:tblPr/>
              <a:tblGrid>
                <a:gridCol w="2743200"/>
                <a:gridCol w="5394960"/>
              </a:tblGrid>
              <a:tr h="27432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Risk</a:t>
                      </a:r>
                      <a:endParaRPr lang="en-US" sz="750" dirty="0">
                        <a:latin typeface="Century Gothic" charset="0"/>
                        <a:ea typeface="Century Gothic" charset="0"/>
                        <a:cs typeface="Century Gothic"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Mitigation</a:t>
                      </a:r>
                      <a:endParaRPr lang="en-US" sz="750" dirty="0">
                        <a:latin typeface="Century Gothic" charset="0"/>
                        <a:ea typeface="Century Gothic" charset="0"/>
                        <a:cs typeface="Century Gothic"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Membership fills slower than modeled.</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clinic is open to non-members from day one, so revenue does not depend on the club filling. The low case flexes volume to 72% of base and still produces positive operating income.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Members redeem more than their fees cover.</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Credit banks are sized against measured redemption and the model asserts the ratio stays below 100%. The three-month minimum with 30-day change notice makes repricing operationally possible.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 key clinical seat turns over during the ramp.</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asset is the facility, not any one clinician. The club layer, recovery floor and infusion suite run on materially less scarce staffing than the injectable and prescribing lines, so a temporary gap narrows the offering without closing the building. A licensed, equipped facility can credential a replacement. Clinical compensation carries retention terms through the ramp.</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An adverse surgical event, or an accreditation lapse.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sedation ceiling and two-hour recovery cap exclude every general-anesthesia procedure and its acuity. Patient-selection criteria, a written transfer agreement with a nearby acute-care facility, and a standing QA program sit behind that.</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Operating room utilization comes in below plan.</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facility bills for the room, not for a particular surgeon, so this is not one person’s key-person exposure, further credentialed principals can be added without changing the model. Facility fees are roughly a tenth of revenue and the OR runs at 61% of practical capacity, so the business stands on the wellness revenue alone.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ramp runs slower than modeled and the cash runs out.</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This is the risk that replaces financing risk when there is no lender. There is no payment to miss and no covenant to breach, so the only hard constraint is cash. The reserve is sized against the modeled trough, the low case still produces positive operating income at stabilization, and founding presales land during construction rather than after opening.</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 national brand opens nearby.</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defensible asset is the licensed facility, not the sauna. Adding injectables, infusions and physician oversight is not a product decision for a recovery studio: it means becoming a licensed medical facility, with the staffing, supervision, malpractice and accreditation that implies.</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Wet-area construction overruns.</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highest-variance line in the buildout. The lean case exists precisely as the fallback scope, and the reserve is sized against the modeled cash trough rather than to a round number.</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28</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502920" y="1051560"/>
            <a:ext cx="8138160" cy="2834640"/>
          </a:xfrm>
          <a:prstGeom prst="roundRect">
            <a:avLst>
              <a:gd name="adj" fmla="val 2581"/>
            </a:avLst>
          </a:prstGeom>
          <a:solidFill>
            <a:srgbClr val="241C1A"/>
          </a:solidFill>
          <a:ln w="15875">
            <a:solidFill>
              <a:srgbClr val="C08D7C"/>
            </a:solidFill>
            <a:prstDash val="solid"/>
          </a:ln>
        </p:spPr>
      </p:sp>
      <p:sp>
        <p:nvSpPr>
          <p:cNvPr id="3" name="Text 1"/>
          <p:cNvSpPr/>
          <p:nvPr/>
        </p:nvSpPr>
        <p:spPr>
          <a:xfrm>
            <a:off x="502920" y="1371600"/>
            <a:ext cx="8138160" cy="228600"/>
          </a:xfrm>
          <a:prstGeom prst="rect">
            <a:avLst/>
          </a:prstGeom>
          <a:noFill/>
          <a:ln/>
        </p:spPr>
        <p:txBody>
          <a:bodyPr wrap="square" rtlCol="0" anchor="ctr"/>
          <a:lstStyle/>
          <a:p>
            <a:pPr algn="ctr" indent="0" marL="0">
              <a:buNone/>
            </a:pPr>
            <a:r>
              <a:rPr lang="en-US" sz="900" spc="300" kern="0" dirty="0">
                <a:solidFill>
                  <a:srgbClr val="C08D7C"/>
                </a:solidFill>
                <a:latin typeface="Century Gothic" pitchFamily="34" charset="0"/>
                <a:ea typeface="Century Gothic" pitchFamily="34" charset="-122"/>
                <a:cs typeface="Century Gothic" pitchFamily="34" charset="-120"/>
              </a:rPr>
              <a:t>PLAYA VISTA, CALIFORNIA</a:t>
            </a:r>
            <a:endParaRPr lang="en-US" sz="900" dirty="0"/>
          </a:p>
        </p:txBody>
      </p:sp>
      <p:sp>
        <p:nvSpPr>
          <p:cNvPr id="4" name="Text 2"/>
          <p:cNvSpPr/>
          <p:nvPr/>
        </p:nvSpPr>
        <p:spPr>
          <a:xfrm>
            <a:off x="502920" y="1691640"/>
            <a:ext cx="8138160" cy="960120"/>
          </a:xfrm>
          <a:prstGeom prst="rect">
            <a:avLst/>
          </a:prstGeom>
          <a:noFill/>
          <a:ln/>
        </p:spPr>
        <p:txBody>
          <a:bodyPr wrap="square" rtlCol="0" anchor="t"/>
          <a:lstStyle/>
          <a:p>
            <a:pPr algn="ctr" indent="0" marL="0">
              <a:lnSpc>
                <a:spcPct val="120000"/>
              </a:lnSpc>
              <a:buNone/>
            </a:pPr>
            <a:r>
              <a:rPr lang="en-US" sz="2400" dirty="0">
                <a:solidFill>
                  <a:srgbClr val="EDE6DA"/>
                </a:solidFill>
                <a:latin typeface="Century Gothic" pitchFamily="34" charset="0"/>
                <a:ea typeface="Century Gothic" pitchFamily="34" charset="-122"/>
                <a:cs typeface="Century Gothic" pitchFamily="34" charset="-120"/>
              </a:rPr>
              <a:t>Self-care is already social.</a:t>
            </a:r>
            <a:endParaRPr lang="en-US" sz="2400" dirty="0"/>
          </a:p>
          <a:p>
            <a:pPr algn="ctr" indent="0" marL="0">
              <a:lnSpc>
                <a:spcPct val="120000"/>
              </a:lnSpc>
              <a:buNone/>
            </a:pPr>
            <a:r>
              <a:rPr lang="en-US" sz="2400" dirty="0">
                <a:solidFill>
                  <a:srgbClr val="EDE6DA"/>
                </a:solidFill>
                <a:latin typeface="Century Gothic" pitchFamily="34" charset="0"/>
                <a:ea typeface="Century Gothic" pitchFamily="34" charset="-122"/>
                <a:cs typeface="Century Gothic" pitchFamily="34" charset="-120"/>
              </a:rPr>
              <a:t>Few rooms are licensed to treat you in one.</a:t>
            </a:r>
            <a:endParaRPr lang="en-US" sz="2400" dirty="0"/>
          </a:p>
        </p:txBody>
      </p:sp>
      <p:sp>
        <p:nvSpPr>
          <p:cNvPr id="5" name="Text 3"/>
          <p:cNvSpPr/>
          <p:nvPr/>
        </p:nvSpPr>
        <p:spPr>
          <a:xfrm>
            <a:off x="502920" y="2743200"/>
            <a:ext cx="8138160" cy="274320"/>
          </a:xfrm>
          <a:prstGeom prst="rect">
            <a:avLst/>
          </a:prstGeom>
          <a:noFill/>
          <a:ln/>
        </p:spPr>
        <p:txBody>
          <a:bodyPr wrap="square" rtlCol="0" anchor="ctr"/>
          <a:lstStyle/>
          <a:p>
            <a:pPr algn="ctr" indent="0" marL="0">
              <a:buNone/>
            </a:pPr>
            <a:r>
              <a:rPr lang="en-US" sz="1150" dirty="0">
                <a:solidFill>
                  <a:srgbClr val="A8A296"/>
                </a:solidFill>
                <a:latin typeface="Calibri" pitchFamily="34" charset="0"/>
                <a:ea typeface="Calibri" pitchFamily="34" charset="-122"/>
                <a:cs typeface="Calibri" pitchFamily="34" charset="-120"/>
              </a:rPr>
              <a:t>Surgical · private  ·  $5.0M all equity  ·  5,825 SF  ·  45.5% unlevered yield</a:t>
            </a:r>
            <a:endParaRPr lang="en-US" sz="1150" dirty="0"/>
          </a:p>
        </p:txBody>
      </p:sp>
      <p:sp>
        <p:nvSpPr>
          <p:cNvPr id="6" name="Text 4"/>
          <p:cNvSpPr/>
          <p:nvPr/>
        </p:nvSpPr>
        <p:spPr>
          <a:xfrm>
            <a:off x="502920" y="3017520"/>
            <a:ext cx="8138160" cy="274320"/>
          </a:xfrm>
          <a:prstGeom prst="rect">
            <a:avLst/>
          </a:prstGeom>
          <a:noFill/>
          <a:ln/>
        </p:spPr>
        <p:txBody>
          <a:bodyPr wrap="square" rtlCol="0" anchor="ctr"/>
          <a:lstStyle/>
          <a:p>
            <a:pPr algn="ctr" indent="0" marL="0">
              <a:buNone/>
            </a:pPr>
            <a:r>
              <a:rPr lang="en-US" sz="1050" dirty="0">
                <a:solidFill>
                  <a:srgbClr val="6E6A62"/>
                </a:solidFill>
                <a:latin typeface="Calibri" pitchFamily="34" charset="0"/>
                <a:ea typeface="Calibri" pitchFamily="34" charset="-122"/>
                <a:cs typeface="Calibri" pitchFamily="34" charset="-120"/>
              </a:rPr>
              <a:t>Full model, capacity workbook and buildout detail available under NDA.</a:t>
            </a:r>
            <a:endParaRPr lang="en-US" sz="1050" dirty="0"/>
          </a:p>
        </p:txBody>
      </p:sp>
      <p:sp>
        <p:nvSpPr>
          <p:cNvPr id="7" name="Text 5"/>
          <p:cNvSpPr/>
          <p:nvPr/>
        </p:nvSpPr>
        <p:spPr>
          <a:xfrm>
            <a:off x="502920" y="3364992"/>
            <a:ext cx="8138160" cy="320040"/>
          </a:xfrm>
          <a:prstGeom prst="rect">
            <a:avLst/>
          </a:prstGeom>
          <a:noFill/>
          <a:ln/>
        </p:spPr>
        <p:txBody>
          <a:bodyPr wrap="square" rtlCol="0" anchor="ctr"/>
          <a:lstStyle/>
          <a:p>
            <a:pPr algn="ctr" indent="0" marL="0">
              <a:buNone/>
            </a:pPr>
            <a:r>
              <a:rPr lang="en-US" sz="1400" dirty="0">
                <a:solidFill>
                  <a:srgbClr val="C08D7C"/>
                </a:solidFill>
                <a:latin typeface="Century Gothic" pitchFamily="34" charset="0"/>
                <a:ea typeface="Century Gothic" pitchFamily="34" charset="-122"/>
                <a:cs typeface="Century Gothic" pitchFamily="34" charset="-120"/>
              </a:rPr>
              <a:t>Laura@culvercitysurgical.com</a:t>
            </a:r>
            <a:endParaRPr lang="en-US" sz="1400" dirty="0"/>
          </a:p>
        </p:txBody>
      </p:sp>
      <p:sp>
        <p:nvSpPr>
          <p:cNvPr id="8" name="Text 6"/>
          <p:cNvSpPr/>
          <p:nvPr/>
        </p:nvSpPr>
        <p:spPr>
          <a:xfrm>
            <a:off x="502920" y="4206240"/>
            <a:ext cx="8138160" cy="457200"/>
          </a:xfrm>
          <a:prstGeom prst="rect">
            <a:avLst/>
          </a:prstGeom>
          <a:noFill/>
          <a:ln/>
        </p:spPr>
        <p:txBody>
          <a:bodyPr wrap="square" rtlCol="0" anchor="ctr"/>
          <a:lstStyle/>
          <a:p>
            <a:pPr algn="ctr" indent="0" marL="0">
              <a:buNone/>
            </a:pPr>
            <a:r>
              <a:rPr lang="en-US" sz="750" dirty="0">
                <a:solidFill>
                  <a:srgbClr val="6E6A62"/>
                </a:solidFill>
                <a:latin typeface="Calibri" pitchFamily="34" charset="0"/>
                <a:ea typeface="Calibri" pitchFamily="34" charset="-122"/>
                <a:cs typeface="Calibri" pitchFamily="34" charset="-120"/>
              </a:rPr>
              <a:t>This document is not an offer to sell or a solicitation of an offer to buy any security. Forward-looking figures are projections and not guarantees of future performance.</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Text 1"/>
          <p:cNvSpPr/>
          <p:nvPr/>
        </p:nvSpPr>
        <p:spPr>
          <a:xfrm>
            <a:off x="502920" y="1417320"/>
            <a:ext cx="8138160" cy="219456"/>
          </a:xfrm>
          <a:prstGeom prst="rect">
            <a:avLst/>
          </a:prstGeom>
          <a:noFill/>
          <a:ln/>
        </p:spPr>
        <p:txBody>
          <a:bodyPr wrap="square" rtlCol="0" anchor="ctr"/>
          <a:lstStyle/>
          <a:p>
            <a:pPr indent="0" marL="0">
              <a:buNone/>
            </a:pPr>
            <a:r>
              <a:rPr lang="en-US" sz="900" spc="340" kern="0" dirty="0">
                <a:solidFill>
                  <a:srgbClr val="C08D7C"/>
                </a:solidFill>
                <a:latin typeface="Century Gothic" pitchFamily="34" charset="0"/>
                <a:ea typeface="Century Gothic" pitchFamily="34" charset="-122"/>
                <a:cs typeface="Century Gothic" pitchFamily="34" charset="-120"/>
              </a:rPr>
              <a:t>APPENDIX</a:t>
            </a:r>
            <a:endParaRPr lang="en-US" sz="900" dirty="0"/>
          </a:p>
        </p:txBody>
      </p:sp>
      <p:sp>
        <p:nvSpPr>
          <p:cNvPr id="4" name="Text 2"/>
          <p:cNvSpPr/>
          <p:nvPr/>
        </p:nvSpPr>
        <p:spPr>
          <a:xfrm>
            <a:off x="502920" y="1691640"/>
            <a:ext cx="8138160" cy="548640"/>
          </a:xfrm>
          <a:prstGeom prst="rect">
            <a:avLst/>
          </a:prstGeom>
          <a:noFill/>
          <a:ln/>
        </p:spPr>
        <p:txBody>
          <a:bodyPr wrap="square" rtlCol="0" anchor="ctr"/>
          <a:lstStyle/>
          <a:p>
            <a:pPr indent="0" marL="0">
              <a:buNone/>
            </a:pPr>
            <a:r>
              <a:rPr lang="en-US" sz="3000" dirty="0">
                <a:solidFill>
                  <a:srgbClr val="EDE6DA"/>
                </a:solidFill>
                <a:latin typeface="Century Gothic" pitchFamily="34" charset="0"/>
                <a:ea typeface="Century Gothic" pitchFamily="34" charset="-122"/>
                <a:cs typeface="Century Gothic" pitchFamily="34" charset="-120"/>
              </a:rPr>
              <a:t>How these numbers were built.</a:t>
            </a:r>
            <a:endParaRPr lang="en-US" sz="3000" dirty="0"/>
          </a:p>
        </p:txBody>
      </p:sp>
      <p:sp>
        <p:nvSpPr>
          <p:cNvPr id="5" name="Shape 3"/>
          <p:cNvSpPr/>
          <p:nvPr/>
        </p:nvSpPr>
        <p:spPr>
          <a:xfrm>
            <a:off x="502920" y="2359152"/>
            <a:ext cx="822960" cy="36576"/>
          </a:xfrm>
          <a:prstGeom prst="rect">
            <a:avLst/>
          </a:prstGeom>
          <a:solidFill>
            <a:srgbClr val="C08D7C"/>
          </a:solidFill>
          <a:ln w="12700">
            <a:solidFill>
              <a:srgbClr val="C08D7C"/>
            </a:solidFill>
            <a:prstDash val="solid"/>
          </a:ln>
        </p:spPr>
      </p:sp>
      <p:sp>
        <p:nvSpPr>
          <p:cNvPr id="6" name="Text 4"/>
          <p:cNvSpPr/>
          <p:nvPr/>
        </p:nvSpPr>
        <p:spPr>
          <a:xfrm>
            <a:off x="502920" y="2606040"/>
            <a:ext cx="6673291" cy="640080"/>
          </a:xfrm>
          <a:prstGeom prst="rect">
            <a:avLst/>
          </a:prstGeom>
          <a:noFill/>
          <a:ln/>
        </p:spPr>
        <p:txBody>
          <a:bodyPr wrap="square" rtlCol="0" anchor="ctr"/>
          <a:lstStyle/>
          <a:p>
            <a:pPr indent="0" marL="0">
              <a:lnSpc>
                <a:spcPct val="125000"/>
              </a:lnSpc>
              <a:buNone/>
            </a:pPr>
            <a:r>
              <a:rPr lang="en-US" sz="1200" dirty="0">
                <a:solidFill>
                  <a:srgbClr val="A8A296"/>
                </a:solidFill>
                <a:latin typeface="Calibri" pitchFamily="34" charset="0"/>
                <a:ea typeface="Calibri" pitchFamily="34" charset="-122"/>
                <a:cs typeface="Calibri" pitchFamily="34" charset="-120"/>
              </a:rPr>
              <a:t>Everything in this brief resolves to a stabilized P&amp;L and a use-of-funds table. The slides that follow itemise both, every overhead line broken into its components, every capital line into what it buys, and the staffing plan named role by role.</a:t>
            </a:r>
            <a:endParaRPr lang="en-US" sz="1200" dirty="0"/>
          </a:p>
        </p:txBody>
      </p:sp>
      <p:sp>
        <p:nvSpPr>
          <p:cNvPr id="7" name="Text 5"/>
          <p:cNvSpPr/>
          <p:nvPr/>
        </p:nvSpPr>
        <p:spPr>
          <a:xfrm>
            <a:off x="502920" y="3291840"/>
            <a:ext cx="6673291" cy="868680"/>
          </a:xfrm>
          <a:prstGeom prst="rect">
            <a:avLst/>
          </a:prstGeom>
          <a:noFill/>
          <a:ln/>
        </p:spPr>
        <p:txBody>
          <a:bodyPr wrap="square" rtlCol="0" anchor="t"/>
          <a:lstStyle/>
          <a:p>
            <a:pPr indent="0" marL="0">
              <a:lnSpc>
                <a:spcPct val="125000"/>
              </a:lnSpc>
              <a:buNone/>
            </a:pPr>
            <a:r>
              <a:rPr lang="en-US" sz="1050" dirty="0">
                <a:solidFill>
                  <a:srgbClr val="6E6A62"/>
                </a:solidFill>
                <a:latin typeface="Calibri" pitchFamily="34" charset="0"/>
                <a:ea typeface="Calibri" pitchFamily="34" charset="-122"/>
                <a:cs typeface="Calibri" pitchFamily="34" charset="-120"/>
              </a:rPr>
              <a:t>These figures come from the same model that produces the rest of the deck, and each build-up is checked at build time to sum to the total it explains. Every figure resting on judgment rather than a quote is named in the provenance pages. The full written methodology, with sources, ships alongside this deck as ASSUMPTIONS.md and as methodology.html on the site.</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Rent, equipment and administration.</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Fixed overhead totals $342,713 a month. Rent is 5,825 SF at $5.50/SF/month NNN.</a:t>
            </a:r>
            <a:endParaRPr lang="en-US" sz="1150" dirty="0"/>
          </a:p>
        </p:txBody>
      </p:sp>
      <p:sp>
        <p:nvSpPr>
          <p:cNvPr id="5" name="Text 3"/>
          <p:cNvSpPr/>
          <p:nvPr/>
        </p:nvSpPr>
        <p:spPr>
          <a:xfrm>
            <a:off x="502920" y="16916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EQUIPMENT LEASES</a:t>
            </a:r>
            <a:endParaRPr lang="en-US" sz="7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911096"/>
          <a:ext cx="3968496" cy="914400"/>
        </p:xfrm>
        <a:graphic>
          <a:graphicData uri="http://schemas.openxmlformats.org/drawingml/2006/table">
            <a:tbl>
              <a:tblPr/>
              <a:tblGrid>
                <a:gridCol w="2619207"/>
                <a:gridCol w="1349289"/>
              </a:tblGrid>
              <a:tr h="20116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Component</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Ammortal chamber (1 unit) financed</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Aescape robotic massage (1 unit) subscription</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5000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Second red light bed financed</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1375</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Balance of clinical and surgical equipment financed (~$900,000 @ 2.2%/mo)</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19800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$29,175</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7" name="Text 4"/>
          <p:cNvSpPr/>
          <p:nvPr/>
        </p:nvSpPr>
        <p:spPr>
          <a:xfrm>
            <a:off x="4672584" y="16916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ADMIN AND MANAGEMENT</a:t>
            </a:r>
            <a:endParaRPr lang="en-US" sz="750" dirty="0"/>
          </a:p>
        </p:txBody>
      </p:sp>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4672584" y="1911096"/>
          <a:ext cx="3968496" cy="914400"/>
        </p:xfrm>
        <a:graphic>
          <a:graphicData uri="http://schemas.openxmlformats.org/drawingml/2006/table">
            <a:tbl>
              <a:tblPr/>
              <a:tblGrid>
                <a:gridCol w="2619207"/>
                <a:gridCol w="1349289"/>
              </a:tblGrid>
              <a:tr h="20116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Component</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Bookkeeping and accounting</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5500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Legal and compliance retainer</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IT and managed services</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Business insurance (GL, property, cyber)</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Merchant processing and banking</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9500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Recruiting, training, miscellaneous</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$30,000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9" name="Text 5"/>
          <p:cNvSpPr/>
          <p:nvPr/>
        </p:nvSpPr>
        <p:spPr>
          <a:xfrm>
            <a:off x="502920" y="3886200"/>
            <a:ext cx="8138160" cy="594360"/>
          </a:xfrm>
          <a:prstGeom prst="rect">
            <a:avLst/>
          </a:prstGeom>
          <a:noFill/>
          <a:ln/>
        </p:spPr>
        <p:txBody>
          <a:bodyPr wrap="square" rtlCol="0" anchor="ctr"/>
          <a:lstStyle/>
          <a:p>
            <a:pPr indent="0" marL="0">
              <a:lnSpc>
                <a:spcPct val="120000"/>
              </a:lnSpc>
              <a:buNone/>
            </a:pPr>
            <a:r>
              <a:rPr lang="en-US" sz="850" dirty="0">
                <a:solidFill>
                  <a:srgbClr val="6E6A62"/>
                </a:solidFill>
                <a:latin typeface="Calibri" pitchFamily="34" charset="0"/>
                <a:ea typeface="Calibri" pitchFamily="34" charset="-122"/>
                <a:cs typeface="Calibri" pitchFamily="34" charset="-120"/>
              </a:rPr>
              <a:t>One Ammortal chamber and one Aescape unit, matching the ample program this case is now built on, which is what takes this line down from $37,300. Aescape cannot be purchased, and its $10 per-massage fee sits inside that service line’s margin. The second red light bed is vendor-financed at $1,375 a month to carry 650 sessions.</a:t>
            </a:r>
            <a:endParaRPr lang="en-US" sz="850" dirty="0"/>
          </a:p>
        </p:txBody>
      </p:sp>
      <p:sp>
        <p:nvSpPr>
          <p:cNvPr id="10"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11"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31</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Clinical and club staff: $165,000/month.</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club runs 14 hours a day, 7 days a week (98 hours), so one continuously staffed post is 2.45 FTE, not 1. All figures are fully loaded: base plus payroll tax, workers compensation and benefits.</a:t>
            </a:r>
            <a:endParaRPr lang="en-US" sz="11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5120640"/>
                <a:gridCol w="1097280"/>
                <a:gridCol w="1920240"/>
              </a:tblGrid>
              <a:tr h="15544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Role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FTE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 loaded</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Founder &amp; Operator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$12,000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Medical Director (MD/DO)</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0.4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Aesthetics Injector (NP or PA)</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$14,500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Longevity Clinical Lead (NP or PA)</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$13,500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Registered Nurses: IV, regenerative, recovery</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$19,000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Medical assistants / technicians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$16,500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Club General Manager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$11,500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Front desk / concierge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$11,875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Club hosts / floor attendants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$11,250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Membership &amp; events coordinator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Facilities / housekeeping</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$7,375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Surgical Technologist</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Circulator RN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$9,500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Monitoring RN: sedation and PACU</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$9,000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Sterile processing technician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0.5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$165,000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32</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Marketing and insurance.</a:t>
            </a:r>
            <a:endParaRPr lang="en-US" sz="2600" dirty="0"/>
          </a:p>
        </p:txBody>
      </p:sp>
      <p:sp>
        <p:nvSpPr>
          <p:cNvPr id="4" name="Text 2"/>
          <p:cNvSpPr/>
          <p:nvPr/>
        </p:nvSpPr>
        <p:spPr>
          <a:xfrm>
            <a:off x="502920"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MARKETING AND MEMBER ACQUISITION</a:t>
            </a:r>
            <a:endParaRPr lang="en-US" sz="7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02920"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Paid digital and social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Content, photography, video</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Events and community programming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Agency / fractional marketing lead</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Referral and partnership incentives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$32,000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MALPRACTICE AND LIABILITY</a:t>
            </a:r>
            <a:endParaRPr lang="en-US" sz="750" dirty="0"/>
          </a:p>
        </p:txBody>
      </p:sp>
      <p:graphicFrame>
        <p:nvGraphicFramePr>
          <p:cNvPr id="67" name="Table 1"/>
          <p:cNvGraphicFramePr>
            <a:graphicFrameLocks noGrp="1"/>
          </p:cNvGraphicFramePr>
          <p:nvPr>
            <p:extLst>
              <p:ext uri="{D42A27DB-BD31-4B8C-83A1-F6EECF244321}">
                <p14:modId xmlns:p14="http://schemas.microsoft.com/office/powerpoint/2010/main" val="1579011935"/>
              </p:ext>
            </p:extLst>
          </p:nvPr>
        </p:nvGraphicFramePr>
        <p:xfrm>
          <a:off x="4672584"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Director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Aesthetics injector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Longevity clinical lead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Nursing and surgical staff coverage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Accredited OR facility coverage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9000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Entity policy and raised umbrella limits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$26,000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3840480"/>
            <a:ext cx="8138160" cy="502920"/>
          </a:xfrm>
          <a:prstGeom prst="rect">
            <a:avLst/>
          </a:prstGeom>
          <a:noFill/>
          <a:ln/>
        </p:spPr>
        <p:txBody>
          <a:bodyPr wrap="square" rtlCol="0" anchor="ctr"/>
          <a:lstStyle/>
          <a:p>
            <a:pPr indent="0" marL="0">
              <a:lnSpc>
                <a:spcPct val="120000"/>
              </a:lnSpc>
              <a:buNone/>
            </a:pPr>
            <a:r>
              <a:rPr lang="en-US" sz="850" dirty="0">
                <a:solidFill>
                  <a:srgbClr val="6E6A62"/>
                </a:solidFill>
                <a:latin typeface="Calibri" pitchFamily="34" charset="0"/>
                <a:ea typeface="Calibri" pitchFamily="34" charset="-122"/>
                <a:cs typeface="Calibri" pitchFamily="34" charset="-120"/>
              </a:rPr>
              <a:t>Priced per credentialed provider plus an entity policy and umbrella. The surgical case adds facility coverage for an accredited operating room, which is the single largest driver of the difference.</a:t>
            </a:r>
            <a:endParaRPr lang="en-US" sz="850" dirty="0"/>
          </a:p>
        </p:txBody>
      </p:sp>
      <p:sp>
        <p:nvSpPr>
          <p:cNvPr id="9" name="Text 5"/>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10" name="Text 6"/>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33</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Utilities and compliance.</a:t>
            </a:r>
            <a:endParaRPr lang="en-US" sz="2600" dirty="0"/>
          </a:p>
        </p:txBody>
      </p:sp>
      <p:sp>
        <p:nvSpPr>
          <p:cNvPr id="4" name="Text 2"/>
          <p:cNvSpPr/>
          <p:nvPr/>
        </p:nvSpPr>
        <p:spPr>
          <a:xfrm>
            <a:off x="502920"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UTILITIES, SOFTWARE, MEMBER PLATFORM</a:t>
            </a:r>
            <a:endParaRPr lang="en-US" sz="7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Utilities (electric, gas, water, OR HVAC)</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Member platform and booking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EMR / charting and surgical records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Phone, internet, security monitoring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Laundry and linen service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Music, AV, miscellaneous systems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$18,500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LICENSING, COMPLIANCE AND ACCREDITATION</a:t>
            </a:r>
            <a:endParaRPr lang="en-US" sz="750" dirty="0"/>
          </a:p>
        </p:txBody>
      </p:sp>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4672584"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licenses and DEA</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Business licenses and permits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CLIA waiver / lab</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Compliance and policy management</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Continuing education and training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Biohazard and sharps disposal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Quad A accreditation maintenance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Surgical QA / PI programme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34</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COST OF GOODS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the margins pay for.</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Cost of goods runs $199,412 a month against $731,666 of revenue, a blended 72.7% margin.</a:t>
            </a:r>
            <a:endParaRPr lang="en-US" sz="11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8138160" cy="914400"/>
        </p:xfrm>
        <a:graphic>
          <a:graphicData uri="http://schemas.openxmlformats.org/drawingml/2006/table">
            <a:tbl>
              <a:tblPr/>
              <a:tblGrid>
                <a:gridCol w="1737360"/>
                <a:gridCol w="822960"/>
                <a:gridCol w="557784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Category</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Margin</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What the cost side is</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Recovery</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80–82%</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Consumables, filters and water treatment, linens, device servicing contracts. Almost no per-session variable cost, which is why these margins are the highest in the building.</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PRP</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60–72%</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Draw kits, separation tubes and centrifuge consumables, needles and sharps, topical anaesthetic. Cost per case is close to fixed, so the margin spread across the six lines is a pricing decision rather than a cost one.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Regenerative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56–78%</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IV bags and tubing, vitamins, glutathione and NAD+ compound, pharmacy cost on prescribed therapeutics. The widest band in the book: NAD+ carries the compound cost and the hydration drips carry almost none.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Aesthetics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65–75%</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Neuromodulator and filler units at acquisition cost, RF microneedling tips, laser consumables, topicals. Filler is the thinnest because product cost dominates a single syringe.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Diagnostics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65–77%</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Reference lab send-out fees, DEXA consumables, DNA and DUTCH collection kits, interpretation time. DEXA sits at the top because the scanner is owned and the marginal cost of a scan is small.</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Surgery: facility fee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78–80%</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Disposables, implants, drugs and linens, instrument reprocessing. Clinical staff sits in fixed overhead and the surgeon takes no share of the facility fee, which is why these exceed the treatment-room lines.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Surgery: full fee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73–76%</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As above, plus graft handling and technician time on hair restoration and laser consumables on ablative resurfacing.</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069080"/>
            <a:ext cx="8138160" cy="365760"/>
          </a:xfrm>
          <a:prstGeom prst="rect">
            <a:avLst/>
          </a:prstGeom>
          <a:noFill/>
          <a:ln/>
        </p:spPr>
        <p:txBody>
          <a:bodyPr wrap="square" rtlCol="0" anchor="ctr"/>
          <a:lstStyle/>
          <a:p>
            <a:pPr indent="0" marL="0">
              <a:buNone/>
            </a:pPr>
            <a:r>
              <a:rPr lang="en-US" sz="850" dirty="0">
                <a:solidFill>
                  <a:srgbClr val="6E6A62"/>
                </a:solidFill>
                <a:latin typeface="Calibri" pitchFamily="34" charset="0"/>
                <a:ea typeface="Calibri" pitchFamily="34" charset="-122"/>
                <a:cs typeface="Calibri" pitchFamily="34" charset="-120"/>
              </a:rPr>
              <a:t>Circuit consumables (towels, laundry, water and amenities) are carried separately at $8 a visit across 2,345 monthly visits, or $18,760.</a:t>
            </a:r>
            <a:endParaRPr lang="en-US" sz="85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35</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itemised capital lines.</a:t>
            </a:r>
            <a:endParaRPr lang="en-US" sz="2600" dirty="0"/>
          </a:p>
        </p:txBody>
      </p:sp>
      <p:sp>
        <p:nvSpPr>
          <p:cNvPr id="4" name="Text 2"/>
          <p:cNvSpPr/>
          <p:nvPr/>
        </p:nvSpPr>
        <p:spPr>
          <a:xfrm>
            <a:off x="502920" y="14630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WET AREAS</a:t>
            </a:r>
            <a:endParaRPr lang="en-US" sz="7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682496"/>
          <a:ext cx="3968496" cy="914400"/>
        </p:xfrm>
        <a:graphic>
          <a:graphicData uri="http://schemas.openxmlformats.org/drawingml/2006/table">
            <a:tbl>
              <a:tblPr/>
              <a:tblGrid>
                <a:gridCol w="2619207"/>
                <a:gridCol w="1349289"/>
              </a:tblGrid>
              <a:tr h="18288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Component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Saunas (2), cedar, heaters, controls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Cold plunges (2), chillers, filtration</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Steam room and generator</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Waterproofing, drainage, floor slopes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Dedicated ventilation and dehumidification</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Tile, benching, finishes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$465,000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4630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RECOVERY TECHNOLOGY</a:t>
            </a:r>
            <a:endParaRPr lang="en-US" sz="750" dirty="0"/>
          </a:p>
        </p:txBody>
      </p:sp>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4672584" y="1682496"/>
          <a:ext cx="3968496" cy="914400"/>
        </p:xfrm>
        <a:graphic>
          <a:graphicData uri="http://schemas.openxmlformats.org/drawingml/2006/table">
            <a:tbl>
              <a:tblPr/>
              <a:tblGrid>
                <a:gridCol w="2619207"/>
                <a:gridCol w="1349289"/>
              </a:tblGrid>
              <a:tr h="18288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Component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Hyperbaric oxygen chamber, purchased</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Ammortal chamber ($159,500 list), 10% finance deposit</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15950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Aescape robotic massage (1 unit), subscription only</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$165,950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36</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each capital line covers.</a:t>
            </a:r>
            <a:endParaRPr lang="en-US" sz="26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697480"/>
                <a:gridCol w="1280160"/>
                <a:gridCol w="4160520"/>
              </a:tblGrid>
              <a:tr h="219456">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Line</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Basis</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Buildout and tenant improvements (4,925 SF clinic and…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$1,231,250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Square footage × $250/SF for clinic and club space.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Surgical suite buildout (900 SF @ $320/SF, OR-grade…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$288,000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900 SF × $320/SF for OR-grade construction.</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Medical gas, emergency power, life-safety branch for…</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Medical gas plus emergency power and life-safety branch for the suite.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Wet areas: 2 saunas, 2 plunges, steam, drainage…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$465,000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Itemised below. Wet construction is the highest-variance line in the whole buildout: waterproofing failures and ventilation rework are the classic overrun.</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Medical and aesthetic equipment (purchased)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Purchased portion of the medical and aesthetic package. Excludes bone densitometry, which is itemised on its own line below.</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Surgical capital equipment (balance leased)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Purchased portion of the surgical package; the balance is leased.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 technology: HBOT purchased, Ammortal deposit</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$165,950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Only the hyperbaric chamber is bought outright. The Ammortal chamber is financed, so the capital cost is the deposit alone.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38</a:t>
            </a:r>
            <a:endParaRPr lang="en-US" sz="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each capital line covers (2 of 2).</a:t>
            </a:r>
            <a:endParaRPr lang="en-US" sz="2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697480"/>
                <a:gridCol w="1280160"/>
                <a:gridCol w="4160520"/>
              </a:tblGrid>
              <a:tr h="219456">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Line</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Basis</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GE iDXA bone densitometer, purchased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 GE Lunar iDXA bone densitometer, bought outright rather than leased, plus the 125 SF room it occupies.</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FF&amp;E, lounge, millwork, retail</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Furniture, lounge fit-out, millwork and retail fixtures.</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Pre-opening: licensing, legal, insurance, hiring…</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Licensing, legal, insurance binders, recruiting and pre-opening payroll.</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Accreditation: Quad A survey, policies, QA/PI…</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Quad A survey fees, policy and procedure development, QA/PI programme, staff training.</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Brand, launch, founding member campaign</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Identity, site, photography, launch campaign and the founding member drive.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Working capital reserve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$1,054,800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Sized against the modelled cash trough, not set to a round number.</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 project cost</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$5,000,000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37</a:t>
            </a:r>
            <a:endParaRPr lang="en-US" sz="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PROVENANCE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rests on judgment (1 of 4).</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Each figure below is an estimate, an inherited assumption or a single vendor quote.</a:t>
            </a:r>
            <a:endParaRPr lang="en-US" sz="1150" dirty="0"/>
          </a:p>
        </p:txBody>
      </p:sp>
      <p:sp>
        <p:nvSpPr>
          <p:cNvPr id="5" name="Text 3"/>
          <p:cNvSpPr/>
          <p:nvPr/>
        </p:nvSpPr>
        <p:spPr>
          <a:xfrm>
            <a:off x="502920" y="1572768"/>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RENT (5,825 SF NNN)</a:t>
            </a:r>
            <a:endParaRPr lang="en-US" sz="800" dirty="0"/>
          </a:p>
        </p:txBody>
      </p:sp>
      <p:sp>
        <p:nvSpPr>
          <p:cNvPr id="6" name="Text 4"/>
          <p:cNvSpPr/>
          <p:nvPr/>
        </p:nvSpPr>
        <p:spPr>
          <a:xfrm>
            <a:off x="502920" y="1737360"/>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This is the most exposed number in the model. There is no broker letter, no comparable set and no listing behind it anywhere in the lineage. The prior Playa Vista model implied $6.77/SF, so $5.50 is the more aggressive figure. Sensitivity is shown at the end of this document.</a:t>
            </a:r>
            <a:endParaRPr lang="en-US" sz="800" dirty="0"/>
          </a:p>
        </p:txBody>
      </p:sp>
      <p:sp>
        <p:nvSpPr>
          <p:cNvPr id="7" name="Text 5"/>
          <p:cNvSpPr/>
          <p:nvPr/>
        </p:nvSpPr>
        <p:spPr>
          <a:xfrm>
            <a:off x="502920" y="211592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CLINICAL AND CLUB STAFF</a:t>
            </a:r>
            <a:endParaRPr lang="en-US" sz="800" dirty="0"/>
          </a:p>
        </p:txBody>
      </p:sp>
      <p:sp>
        <p:nvSpPr>
          <p:cNvPr id="8" name="Text 6"/>
          <p:cNvSpPr/>
          <p:nvPr/>
        </p:nvSpPr>
        <p:spPr>
          <a:xfrm>
            <a:off x="502920" y="2280514"/>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There is deliberately no surgeon line. The surgeon is a principal who bills professional fees directly, so their compensation sits below the operating line as an owner distribution rather than on facility payroll. That is the same reason the facility books only a facility fee.</a:t>
            </a:r>
            <a:endParaRPr lang="en-US" sz="800" dirty="0"/>
          </a:p>
        </p:txBody>
      </p:sp>
      <p:sp>
        <p:nvSpPr>
          <p:cNvPr id="9" name="Text 7"/>
          <p:cNvSpPr/>
          <p:nvPr/>
        </p:nvSpPr>
        <p:spPr>
          <a:xfrm>
            <a:off x="502920" y="2659075"/>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EQUIPMENT LEASES</a:t>
            </a:r>
            <a:endParaRPr lang="en-US" sz="800" dirty="0"/>
          </a:p>
        </p:txBody>
      </p:sp>
      <p:sp>
        <p:nvSpPr>
          <p:cNvPr id="10" name="Text 8"/>
          <p:cNvSpPr/>
          <p:nvPr/>
        </p:nvSpPr>
        <p:spPr>
          <a:xfrm>
            <a:off x="502920" y="2823667"/>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One Ammortal chamber and one Aescape unit, matching the ample program this case is now built on, which is what takes this line down from $37,300. Aescape cannot be purchased, and its $10 per-massage fee sits inside that service line’s margin. The second red light bed is vendor-financed at $1,375 a month to carry 650 sessions.</a:t>
            </a:r>
            <a:endParaRPr lang="en-US" sz="800" dirty="0"/>
          </a:p>
        </p:txBody>
      </p:sp>
      <p:sp>
        <p:nvSpPr>
          <p:cNvPr id="11" name="Text 9"/>
          <p:cNvSpPr/>
          <p:nvPr/>
        </p:nvSpPr>
        <p:spPr>
          <a:xfrm>
            <a:off x="502920" y="3202229"/>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ADMIN AND MANAGEMENT</a:t>
            </a:r>
            <a:endParaRPr lang="en-US" sz="800" dirty="0"/>
          </a:p>
        </p:txBody>
      </p:sp>
      <p:sp>
        <p:nvSpPr>
          <p:cNvPr id="12" name="Text 10"/>
          <p:cNvSpPr/>
          <p:nvPr/>
        </p:nvSpPr>
        <p:spPr>
          <a:xfrm>
            <a:off x="502920" y="3366821"/>
            <a:ext cx="8138160" cy="120701"/>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Merchant processing is the largest component and scales with card revenue at roughly 2.6%. Everything else is a fixed vendor cost.</a:t>
            </a:r>
            <a:endParaRPr lang="en-US" sz="800" dirty="0"/>
          </a:p>
        </p:txBody>
      </p:sp>
      <p:sp>
        <p:nvSpPr>
          <p:cNvPr id="13" name="Text 11"/>
          <p:cNvSpPr/>
          <p:nvPr/>
        </p:nvSpPr>
        <p:spPr>
          <a:xfrm>
            <a:off x="502920" y="362468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MARKETING AND MEMBER ACQUISITION</a:t>
            </a:r>
            <a:endParaRPr lang="en-US" sz="800" dirty="0"/>
          </a:p>
        </p:txBody>
      </p:sp>
      <p:sp>
        <p:nvSpPr>
          <p:cNvPr id="14" name="Text 12"/>
          <p:cNvSpPr/>
          <p:nvPr/>
        </p:nvSpPr>
        <p:spPr>
          <a:xfrm>
            <a:off x="502920" y="3789274"/>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Weighted toward paid digital during the ramp and toward events and referral once the membership base exists. No blended CAC target is claimed, because none has been measured.</a:t>
            </a:r>
            <a:endParaRPr lang="en-US" sz="80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39</a:t>
            </a:r>
            <a:endParaRPr lang="en-US" sz="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PROVENANCE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rests on judgment (2 of 4).</a:t>
            </a:r>
            <a:endParaRPr lang="en-US" sz="2600" dirty="0"/>
          </a:p>
        </p:txBody>
      </p:sp>
      <p:sp>
        <p:nvSpPr>
          <p:cNvPr id="4" name="Text 2"/>
          <p:cNvSpPr/>
          <p:nvPr/>
        </p:nvSpPr>
        <p:spPr>
          <a:xfrm>
            <a:off x="502920" y="1298448"/>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MALPRACTICE AND LIABILITY</a:t>
            </a:r>
            <a:endParaRPr lang="en-US" sz="800" dirty="0"/>
          </a:p>
        </p:txBody>
      </p:sp>
      <p:sp>
        <p:nvSpPr>
          <p:cNvPr id="5" name="Text 3"/>
          <p:cNvSpPr/>
          <p:nvPr/>
        </p:nvSpPr>
        <p:spPr>
          <a:xfrm>
            <a:off x="502920" y="1463040"/>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Priced per credentialed provider plus an entity policy and umbrella. The surgical case adds facility coverage for an accredited operating room, which is the single largest driver of the difference.</a:t>
            </a:r>
            <a:endParaRPr lang="en-US" sz="800" dirty="0"/>
          </a:p>
        </p:txBody>
      </p:sp>
      <p:sp>
        <p:nvSpPr>
          <p:cNvPr id="6" name="Text 4"/>
          <p:cNvSpPr/>
          <p:nvPr/>
        </p:nvSpPr>
        <p:spPr>
          <a:xfrm>
            <a:off x="502920" y="184160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UTILITIES, SOFTWARE, MEMBER PLATFORM</a:t>
            </a:r>
            <a:endParaRPr lang="en-US" sz="800" dirty="0"/>
          </a:p>
        </p:txBody>
      </p:sp>
      <p:sp>
        <p:nvSpPr>
          <p:cNvPr id="7" name="Text 5"/>
          <p:cNvSpPr/>
          <p:nvPr/>
        </p:nvSpPr>
        <p:spPr>
          <a:xfrm>
            <a:off x="502920" y="2006194"/>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Wet areas dominate the utility line: saunas, plunges and their dehumidification run continuously and are materially more energy intensive than a dry medspa of the same footprint.</a:t>
            </a:r>
            <a:endParaRPr lang="en-US" sz="800" dirty="0"/>
          </a:p>
        </p:txBody>
      </p:sp>
      <p:sp>
        <p:nvSpPr>
          <p:cNvPr id="8" name="Text 6"/>
          <p:cNvSpPr/>
          <p:nvPr/>
        </p:nvSpPr>
        <p:spPr>
          <a:xfrm>
            <a:off x="502920" y="2384755"/>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LICENSING, COMPLIANCE AND ACCREDITATION</a:t>
            </a:r>
            <a:endParaRPr lang="en-US" sz="800" dirty="0"/>
          </a:p>
        </p:txBody>
      </p:sp>
      <p:sp>
        <p:nvSpPr>
          <p:cNvPr id="9" name="Text 7"/>
          <p:cNvSpPr/>
          <p:nvPr/>
        </p:nvSpPr>
        <p:spPr>
          <a:xfrm>
            <a:off x="502920" y="2549347"/>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Routine regulatory carrying cost. The surgical case adds accreditation maintenance and a standing quality and performance improvement programme, both of which the accrediting body requires between surveys.</a:t>
            </a:r>
            <a:endParaRPr lang="en-US" sz="800" dirty="0"/>
          </a:p>
        </p:txBody>
      </p:sp>
      <p:sp>
        <p:nvSpPr>
          <p:cNvPr id="10" name="Text 8"/>
          <p:cNvSpPr/>
          <p:nvPr/>
        </p:nvSpPr>
        <p:spPr>
          <a:xfrm>
            <a:off x="502920" y="2927909"/>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BUILDOUT AND TENANT IMPROVEMENTS (4,925 SF CLINIC AND CLUB @ $250/SF)</a:t>
            </a:r>
            <a:endParaRPr lang="en-US" sz="800" dirty="0"/>
          </a:p>
        </p:txBody>
      </p:sp>
      <p:sp>
        <p:nvSpPr>
          <p:cNvPr id="11" name="Text 9"/>
          <p:cNvSpPr/>
          <p:nvPr/>
        </p:nvSpPr>
        <p:spPr>
          <a:xfrm>
            <a:off x="502920" y="3092501"/>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 prior Playa Vista model used $200–$300/SF for comparable clinic buildout, so $250 sits mid-range. It is not a contractor bid; a general contractor bid remains the most valuable document to obtain before closing.</a:t>
            </a:r>
            <a:endParaRPr lang="en-US" sz="800" dirty="0"/>
          </a:p>
        </p:txBody>
      </p:sp>
      <p:sp>
        <p:nvSpPr>
          <p:cNvPr id="12" name="Text 10"/>
          <p:cNvSpPr/>
          <p:nvPr/>
        </p:nvSpPr>
        <p:spPr>
          <a:xfrm>
            <a:off x="502920" y="347106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SURGICAL SUITE BUILDOUT (900 SF @ $320/SF, OR-GRADE HVAC AND FINISHES)</a:t>
            </a:r>
            <a:endParaRPr lang="en-US" sz="800" dirty="0"/>
          </a:p>
        </p:txBody>
      </p:sp>
      <p:sp>
        <p:nvSpPr>
          <p:cNvPr id="13" name="Text 11"/>
          <p:cNvSpPr/>
          <p:nvPr/>
        </p:nvSpPr>
        <p:spPr>
          <a:xfrm>
            <a:off x="502920" y="3635654"/>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iOR publishes $120–$220/SF nationally for an office-based surgery suite. $320 sits above that band deliberately: Playa Vista is a high-cost construction market, and positive-pressure HVAC with filtered air changes is not a clinic-grade system.</a:t>
            </a:r>
            <a:endParaRPr lang="en-US" sz="800" dirty="0"/>
          </a:p>
        </p:txBody>
      </p:sp>
      <p:sp>
        <p:nvSpPr>
          <p:cNvPr id="14" name="Text 12"/>
          <p:cNvSpPr/>
          <p:nvPr/>
        </p:nvSpPr>
        <p:spPr>
          <a:xfrm>
            <a:off x="502920" y="4014216"/>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MEDICAL GAS, EMERGENCY POWER, LIFE-SAFETY BRANCH FOR THE SUITE</a:t>
            </a:r>
            <a:endParaRPr lang="en-US" sz="800" dirty="0"/>
          </a:p>
        </p:txBody>
      </p:sp>
      <p:sp>
        <p:nvSpPr>
          <p:cNvPr id="15" name="Text 13"/>
          <p:cNvSpPr/>
          <p:nvPr/>
        </p:nvSpPr>
        <p:spPr>
          <a:xfrm>
            <a:off x="502920" y="4178808"/>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 only externally cited construction figure in this table. The published ranges are $60K–$80K+ for medical gas and $40K–$100K for emergency power, a combined $100K–$180K. This line sits at the bottom of that range, which is the aggressive end.</a:t>
            </a:r>
            <a:endParaRPr lang="en-US" sz="80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40</a:t>
            </a:r>
            <a:endParaRPr lang="en-US" sz="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PROVENANCE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rests on judgment (3 of 4).</a:t>
            </a:r>
            <a:endParaRPr lang="en-US" sz="2600" dirty="0"/>
          </a:p>
        </p:txBody>
      </p:sp>
      <p:sp>
        <p:nvSpPr>
          <p:cNvPr id="4" name="Text 2"/>
          <p:cNvSpPr/>
          <p:nvPr/>
        </p:nvSpPr>
        <p:spPr>
          <a:xfrm>
            <a:off x="502920" y="1298448"/>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MEDICAL AND AESTHETIC EQUIPMENT (PURCHASED)</a:t>
            </a:r>
            <a:endParaRPr lang="en-US" sz="800" dirty="0"/>
          </a:p>
        </p:txBody>
      </p:sp>
      <p:sp>
        <p:nvSpPr>
          <p:cNvPr id="5" name="Text 3"/>
          <p:cNvSpPr/>
          <p:nvPr/>
        </p:nvSpPr>
        <p:spPr>
          <a:xfrm>
            <a:off x="502920" y="1463040"/>
            <a:ext cx="8138160" cy="3621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Category ranges come from the prior Playa Vista line-item budget: IV and exam $80K–$150K, PRP processing $40K–$125K, aesthetic laser $150K–$400K, RF microneedling $80K–$180K, body contouring $100K–$275K, diagnostics $80K–$180K. That budget is an internal planning document, not vendor quotes. The diagnostics range above covers biometrics, phlebotomy and the lab interface only: the GE iDXA is named and priced separately so the two cannot be counted twice.</a:t>
            </a:r>
            <a:endParaRPr lang="en-US" sz="800" dirty="0"/>
          </a:p>
        </p:txBody>
      </p:sp>
      <p:sp>
        <p:nvSpPr>
          <p:cNvPr id="6" name="Text 4"/>
          <p:cNvSpPr/>
          <p:nvPr/>
        </p:nvSpPr>
        <p:spPr>
          <a:xfrm>
            <a:off x="502920" y="196230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SURGICAL CAPITAL EQUIPMENT (BALANCE LEASED)</a:t>
            </a:r>
            <a:endParaRPr lang="en-US" sz="800" dirty="0"/>
          </a:p>
        </p:txBody>
      </p:sp>
      <p:sp>
        <p:nvSpPr>
          <p:cNvPr id="7" name="Text 5"/>
          <p:cNvSpPr/>
          <p:nvPr/>
        </p:nvSpPr>
        <p:spPr>
          <a:xfrm>
            <a:off x="502920" y="2126894"/>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iOR publishes $150K–$225K of capital equipment for an ophthalmic suite. A plastics and facial suite carries a different mix (articulating table, dual lights, aspirator, monitors, crash cart, autoclaves and instrument sets), so this is set independently rather than adopted.</a:t>
            </a:r>
            <a:endParaRPr lang="en-US" sz="800" dirty="0"/>
          </a:p>
        </p:txBody>
      </p:sp>
      <p:sp>
        <p:nvSpPr>
          <p:cNvPr id="8" name="Text 6"/>
          <p:cNvSpPr/>
          <p:nvPr/>
        </p:nvSpPr>
        <p:spPr>
          <a:xfrm>
            <a:off x="502920" y="2505456"/>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RECOVERY TECHNOLOGY: HBOT PURCHASED, AMMORTAL DEPOSIT</a:t>
            </a:r>
            <a:endParaRPr lang="en-US" sz="800" dirty="0"/>
          </a:p>
        </p:txBody>
      </p:sp>
      <p:sp>
        <p:nvSpPr>
          <p:cNvPr id="9" name="Text 7"/>
          <p:cNvSpPr/>
          <p:nvPr/>
        </p:nvSpPr>
        <p:spPr>
          <a:xfrm>
            <a:off x="502920" y="2670048"/>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 single Ammortal chamber lists at $159,500 including delivery, install and onboarding, with $15,950 down and roughly $3,000 a month thereafter. Both the Ammortal payment and the Aescape subscription appear in the monthly equipment lease line rather than here, along with the red light beds.</a:t>
            </a:r>
            <a:endParaRPr lang="en-US" sz="800" dirty="0"/>
          </a:p>
        </p:txBody>
      </p:sp>
      <p:sp>
        <p:nvSpPr>
          <p:cNvPr id="10" name="Text 8"/>
          <p:cNvSpPr/>
          <p:nvPr/>
        </p:nvSpPr>
        <p:spPr>
          <a:xfrm>
            <a:off x="502920" y="3048610"/>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GE IDXA BONE DENSITOMETER, PURCHASED</a:t>
            </a:r>
            <a:endParaRPr lang="en-US" sz="800" dirty="0"/>
          </a:p>
        </p:txBody>
      </p:sp>
      <p:sp>
        <p:nvSpPr>
          <p:cNvPr id="11" name="Text 9"/>
          <p:cNvSpPr/>
          <p:nvPr/>
        </p:nvSpPr>
        <p:spPr>
          <a:xfrm>
            <a:off x="502920" y="3213202"/>
            <a:ext cx="8138160" cy="482803"/>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Price supplied by the operator. It is well below new-unit list, so it assumes a refurbished or off-lease scanner: confirm the condition, the remaining tube life and whether a service contract is included before closing. The room it needs added 125 SF to the footprint, which carries $31,250 of buildout at $250/SF; both that and the scanner itself are funded from the working capital reserve, so the project cost is unchanged. Owning the scanner rather than referring out is what puts the DEXA service line at a 77% margin and lets it be priced as a $95 screening entry point.</a:t>
            </a:r>
            <a:endParaRPr lang="en-US" sz="800" dirty="0"/>
          </a:p>
        </p:txBody>
      </p:sp>
      <p:sp>
        <p:nvSpPr>
          <p:cNvPr id="12" name="Text 10"/>
          <p:cNvSpPr/>
          <p:nvPr/>
        </p:nvSpPr>
        <p:spPr>
          <a:xfrm>
            <a:off x="502920" y="3833165"/>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FF&amp;E, LOUNGE, MILLWORK, RETAIL</a:t>
            </a:r>
            <a:endParaRPr lang="en-US" sz="800" dirty="0"/>
          </a:p>
        </p:txBody>
      </p:sp>
      <p:sp>
        <p:nvSpPr>
          <p:cNvPr id="13" name="Text 11"/>
          <p:cNvSpPr/>
          <p:nvPr/>
        </p:nvSpPr>
        <p:spPr>
          <a:xfrm>
            <a:off x="502920" y="3997757"/>
            <a:ext cx="8138160" cy="120701"/>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Hospitality-grade rather than clinical-grade, because the lounge is the product. Per square foot this is the line most exposed to taste and specification drift.</a:t>
            </a:r>
            <a:endParaRPr lang="en-US" sz="80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41</a:t>
            </a:r>
            <a:endParaRPr lang="en-US" sz="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PROVENANCE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rests on judgment (4 of 4).</a:t>
            </a:r>
            <a:endParaRPr lang="en-US" sz="2600" dirty="0"/>
          </a:p>
        </p:txBody>
      </p:sp>
      <p:sp>
        <p:nvSpPr>
          <p:cNvPr id="4" name="Text 2"/>
          <p:cNvSpPr/>
          <p:nvPr/>
        </p:nvSpPr>
        <p:spPr>
          <a:xfrm>
            <a:off x="502920" y="1298448"/>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PRE-OPENING: LICENSING, LEGAL, INSURANCE, HIRING, TRANSFER AGREEMENT</a:t>
            </a:r>
            <a:endParaRPr lang="en-US" sz="800" dirty="0"/>
          </a:p>
        </p:txBody>
      </p:sp>
      <p:sp>
        <p:nvSpPr>
          <p:cNvPr id="5" name="Text 3"/>
          <p:cNvSpPr/>
          <p:nvPr/>
        </p:nvSpPr>
        <p:spPr>
          <a:xfrm>
            <a:off x="502920" y="1463040"/>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The surgical case additionally carries the written transfer agreement with a nearby acute-care facility, which the accrediting body expects. It is priced inside this line rather than broken out.</a:t>
            </a:r>
            <a:endParaRPr lang="en-US" sz="800" dirty="0"/>
          </a:p>
        </p:txBody>
      </p:sp>
      <p:sp>
        <p:nvSpPr>
          <p:cNvPr id="6" name="Text 4"/>
          <p:cNvSpPr/>
          <p:nvPr/>
        </p:nvSpPr>
        <p:spPr>
          <a:xfrm>
            <a:off x="502920" y="1841602"/>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ACCREDITATION: QUAD A SURVEY, POLICIES, QA/PI PROGRAM, STAFF TRAINING</a:t>
            </a:r>
            <a:endParaRPr lang="en-US" sz="800" dirty="0"/>
          </a:p>
        </p:txBody>
      </p:sp>
      <p:sp>
        <p:nvSpPr>
          <p:cNvPr id="7" name="Text 5"/>
          <p:cNvSpPr/>
          <p:nvPr/>
        </p:nvSpPr>
        <p:spPr>
          <a:xfrm>
            <a:off x="502920" y="2006194"/>
            <a:ext cx="8138160" cy="120701"/>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iOR does not publish its fees and does not serve these specialties in any case, so this assumes an independent accreditation consultant.</a:t>
            </a:r>
            <a:endParaRPr lang="en-US" sz="800" dirty="0"/>
          </a:p>
        </p:txBody>
      </p:sp>
      <p:sp>
        <p:nvSpPr>
          <p:cNvPr id="8" name="Text 6"/>
          <p:cNvSpPr/>
          <p:nvPr/>
        </p:nvSpPr>
        <p:spPr>
          <a:xfrm>
            <a:off x="502920" y="2264054"/>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BRAND, LAUNCH, FOUNDING MEMBER CAMPAIGN</a:t>
            </a:r>
            <a:endParaRPr lang="en-US" sz="800" dirty="0"/>
          </a:p>
        </p:txBody>
      </p:sp>
      <p:sp>
        <p:nvSpPr>
          <p:cNvPr id="9" name="Text 7"/>
          <p:cNvSpPr/>
          <p:nvPr/>
        </p:nvSpPr>
        <p:spPr>
          <a:xfrm>
            <a:off x="502920" y="2428646"/>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Sized against the founding member target: the campaign has to convert enough pre-opening memberships to matter, and those proceeds are modelled as offsetting construction-period burn.</a:t>
            </a:r>
            <a:endParaRPr lang="en-US" sz="800" dirty="0"/>
          </a:p>
        </p:txBody>
      </p:sp>
      <p:sp>
        <p:nvSpPr>
          <p:cNvPr id="10" name="Text 8"/>
          <p:cNvSpPr/>
          <p:nvPr/>
        </p:nvSpPr>
        <p:spPr>
          <a:xfrm>
            <a:off x="502920" y="2807208"/>
            <a:ext cx="8138160" cy="164592"/>
          </a:xfrm>
          <a:prstGeom prst="rect">
            <a:avLst/>
          </a:prstGeom>
          <a:noFill/>
          <a:ln/>
        </p:spPr>
        <p:txBody>
          <a:bodyPr wrap="square" rtlCol="0" anchor="ctr"/>
          <a:lstStyle/>
          <a:p>
            <a:pPr indent="0" marL="0">
              <a:buNone/>
            </a:pPr>
            <a:r>
              <a:rPr lang="en-US" sz="800" spc="160" kern="0" dirty="0">
                <a:solidFill>
                  <a:srgbClr val="C08D7C"/>
                </a:solidFill>
                <a:latin typeface="Century Gothic" pitchFamily="34" charset="0"/>
                <a:ea typeface="Century Gothic" pitchFamily="34" charset="-122"/>
                <a:cs typeface="Century Gothic" pitchFamily="34" charset="-120"/>
              </a:rPr>
              <a:t>WORKING CAPITAL RESERVE</a:t>
            </a:r>
            <a:endParaRPr lang="en-US" sz="800" dirty="0"/>
          </a:p>
        </p:txBody>
      </p:sp>
      <p:sp>
        <p:nvSpPr>
          <p:cNvPr id="11" name="Text 9"/>
          <p:cNvSpPr/>
          <p:nvPr/>
        </p:nvSpPr>
        <p:spPr>
          <a:xfrm>
            <a:off x="502920" y="2971800"/>
            <a:ext cx="8138160" cy="241402"/>
          </a:xfrm>
          <a:prstGeom prst="rect">
            <a:avLst/>
          </a:prstGeom>
          <a:noFill/>
          <a:ln/>
        </p:spPr>
        <p:txBody>
          <a:bodyPr wrap="square" rtlCol="0" anchor="t"/>
          <a:lstStyle/>
          <a:p>
            <a:pPr indent="0" marL="0">
              <a:lnSpc>
                <a:spcPct val="120000"/>
              </a:lnSpc>
              <a:buNone/>
            </a:pPr>
            <a:r>
              <a:rPr lang="en-US" sz="800" dirty="0">
                <a:solidFill>
                  <a:srgbClr val="A8A296"/>
                </a:solidFill>
                <a:latin typeface="Calibri" pitchFamily="34" charset="0"/>
                <a:ea typeface="Calibri" pitchFamily="34" charset="-122"/>
                <a:cs typeface="Calibri" pitchFamily="34" charset="-120"/>
              </a:rPr>
              <a:t>This is the one capital line that is computed rather than estimated. The model runs a 36-month cash curve and this reserve must exceed the deepest cumulative shortfall; a build assert fails if it does not. That is why the figure is not round.</a:t>
            </a:r>
            <a:endParaRPr lang="en-US" sz="800" dirty="0"/>
          </a:p>
        </p:txBody>
      </p:sp>
      <p:sp>
        <p:nvSpPr>
          <p:cNvPr id="12" name="Text 10"/>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13" name="Text 11"/>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42</a:t>
            </a:r>
            <a:endParaRPr lang="en-US" sz="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SENSITIVITY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If rent is wrong, what happens.</a:t>
            </a:r>
            <a:endParaRPr lang="en-US" sz="2600" dirty="0"/>
          </a:p>
        </p:txBody>
      </p:sp>
      <p:sp>
        <p:nvSpPr>
          <p:cNvPr id="4" name="Text 2"/>
          <p:cNvSpPr/>
          <p:nvPr/>
        </p:nvSpPr>
        <p:spPr>
          <a:xfrm>
            <a:off x="502920" y="1097280"/>
            <a:ext cx="8138160" cy="457200"/>
          </a:xfrm>
          <a:prstGeom prst="rect">
            <a:avLst/>
          </a:prstGeom>
          <a:noFill/>
          <a:ln/>
        </p:spPr>
        <p:txBody>
          <a:bodyPr wrap="square" rtlCol="0" anchor="t"/>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Rent is the largest single assumption in the model and the easiest to check. Everything else is held constant.</a:t>
            </a:r>
            <a:endParaRPr lang="en-US" sz="11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8138160" cy="914400"/>
        </p:xfrm>
        <a:graphic>
          <a:graphicData uri="http://schemas.openxmlformats.org/drawingml/2006/table">
            <a:tbl>
              <a:tblPr/>
              <a:tblGrid>
                <a:gridCol w="2103120"/>
                <a:gridCol w="1463040"/>
                <a:gridCol w="1645920"/>
                <a:gridCol w="1554480"/>
                <a:gridCol w="1371600"/>
              </a:tblGrid>
              <a:tr h="292608">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Rent $/SF/month NNN</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 rent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Operating /mo</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Annual</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Yield on equity</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5.50  (modelled)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$32,038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$189,541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$2,274,497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45.5%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6.00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$34,950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$186,629</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$2,239,547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44.8%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6.50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$37,863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$183,716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$2,204,597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44.1%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7.00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$40,775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$180,804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$2,169,647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43.4%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3611880"/>
            <a:ext cx="8138160" cy="457200"/>
          </a:xfrm>
          <a:prstGeom prst="rect">
            <a:avLst/>
          </a:prstGeom>
          <a:noFill/>
          <a:ln/>
        </p:spPr>
        <p:txBody>
          <a:bodyPr wrap="square" rtlCol="0" anchor="ctr"/>
          <a:lstStyle/>
          <a:p>
            <a:pPr indent="0" marL="0">
              <a:lnSpc>
                <a:spcPct val="120000"/>
              </a:lnSpc>
              <a:buNone/>
            </a:pPr>
            <a:r>
              <a:rPr lang="en-US" sz="900" dirty="0">
                <a:solidFill>
                  <a:srgbClr val="6E6A62"/>
                </a:solidFill>
                <a:latin typeface="Calibri" pitchFamily="34" charset="0"/>
                <a:ea typeface="Calibri" pitchFamily="34" charset="-122"/>
                <a:cs typeface="Calibri" pitchFamily="34" charset="-120"/>
              </a:rPr>
              <a:t>Yield is stabilized operating income against the equity raised, before tax and before any distribution. The modelled rate is the more aggressive of the figures shown; a broker letter or signed lease would replace this assumption with a fact.</a:t>
            </a:r>
            <a:endParaRPr lang="en-US" sz="90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 PRIVATE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43</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LK Wellness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L and K Wellness: Private Investment Brief</dc:subject>
  <dc:creator>LK Wellness</dc:creator>
  <cp:lastModifiedBy>LK Wellness</cp:lastModifiedBy>
  <cp:revision>1</cp:revision>
  <dcterms:created xsi:type="dcterms:W3CDTF">2026-08-20T02:33:30Z</dcterms:created>
  <dcterms:modified xsi:type="dcterms:W3CDTF">2026-08-20T02:33:30Z</dcterms:modified>
</cp:coreProperties>
</file>